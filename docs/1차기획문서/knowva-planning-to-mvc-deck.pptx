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2dca78a6c049c5" /><Relationship Type="http://schemas.openxmlformats.org/officeDocument/2006/relationships/extended-properties" Target="/docProps/app.xml" Id="R0f095285d4b24696" /><Relationship Type="http://schemas.openxmlformats.org/officeDocument/2006/relationships/officeDocument" Target="/ppt/presentation.xml" Id="Rcb064a66149c45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ec9d90a1764b32"/>
  </p:sldMasterIdLst>
  <p:notesMasterIdLst>
    <p:notesMasterId xmlns:r="http://schemas.openxmlformats.org/officeDocument/2006/relationships" r:id="Rbc4b14a7c51d475c"/>
  </p:notesMasterIdLst>
  <p:sldIdLst>
    <p:sldId xmlns:r="http://schemas.openxmlformats.org/officeDocument/2006/relationships" id="256" r:id="Rd4c0bbecc2134530"/>
    <p:sldId xmlns:r="http://schemas.openxmlformats.org/officeDocument/2006/relationships" id="257" r:id="Rbf026ec1231d47e2"/>
    <p:sldId xmlns:r="http://schemas.openxmlformats.org/officeDocument/2006/relationships" id="258" r:id="R72f9e17b2dec44c5"/>
    <p:sldId xmlns:r="http://schemas.openxmlformats.org/officeDocument/2006/relationships" id="259" r:id="Rb258282904e047a7"/>
    <p:sldId xmlns:r="http://schemas.openxmlformats.org/officeDocument/2006/relationships" id="260" r:id="R4e3655c774354645"/>
    <p:sldId xmlns:r="http://schemas.openxmlformats.org/officeDocument/2006/relationships" id="261" r:id="R3ab3177cdbf848fa"/>
    <p:sldId xmlns:r="http://schemas.openxmlformats.org/officeDocument/2006/relationships" id="262" r:id="Re22a09c8354b4cf2"/>
    <p:sldId xmlns:r="http://schemas.openxmlformats.org/officeDocument/2006/relationships" id="263" r:id="Rb296d1dc6e6c4880"/>
    <p:sldId xmlns:r="http://schemas.openxmlformats.org/officeDocument/2006/relationships" id="264" r:id="R2c219bab8edb40ad"/>
    <p:sldId xmlns:r="http://schemas.openxmlformats.org/officeDocument/2006/relationships" id="265" r:id="R99e109dcdebf429e"/>
    <p:sldId xmlns:r="http://schemas.openxmlformats.org/officeDocument/2006/relationships" id="266" r:id="Ra41ddf13385749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17f21dc0c945b0" /><Relationship Type="http://schemas.openxmlformats.org/officeDocument/2006/relationships/slideMaster" Target="/ppt/slideMasters/slideMaster1.xml" Id="Ra8ec9d90a1764b32" /><Relationship Type="http://schemas.openxmlformats.org/officeDocument/2006/relationships/notesMaster" Target="/ppt/notesMasters/notesMaster1.xml" Id="Rbc4b14a7c51d475c" /><Relationship Type="http://schemas.openxmlformats.org/officeDocument/2006/relationships/presProps" Target="/ppt/presProps.xml" Id="Rb7804d6f868d4d4e" /><Relationship Type="http://schemas.openxmlformats.org/officeDocument/2006/relationships/tableStyles" Target="/ppt/tableStyles.xml" Id="R17c464010e0d4d02" /><Relationship Type="http://schemas.openxmlformats.org/officeDocument/2006/relationships/slide" Target="/ppt/slides/slide1.xml" Id="Rd4c0bbecc2134530" /><Relationship Type="http://schemas.openxmlformats.org/officeDocument/2006/relationships/slide" Target="/ppt/slides/slide2.xml" Id="Rbf026ec1231d47e2" /><Relationship Type="http://schemas.openxmlformats.org/officeDocument/2006/relationships/slide" Target="/ppt/slides/slide3.xml" Id="R72f9e17b2dec44c5" /><Relationship Type="http://schemas.openxmlformats.org/officeDocument/2006/relationships/slide" Target="/ppt/slides/slide4.xml" Id="Rb258282904e047a7" /><Relationship Type="http://schemas.openxmlformats.org/officeDocument/2006/relationships/slide" Target="/ppt/slides/slide5.xml" Id="R4e3655c774354645" /><Relationship Type="http://schemas.openxmlformats.org/officeDocument/2006/relationships/slide" Target="/ppt/slides/slide6.xml" Id="R3ab3177cdbf848fa" /><Relationship Type="http://schemas.openxmlformats.org/officeDocument/2006/relationships/slide" Target="/ppt/slides/slide7.xml" Id="Re22a09c8354b4cf2" /><Relationship Type="http://schemas.openxmlformats.org/officeDocument/2006/relationships/slide" Target="/ppt/slides/slide8.xml" Id="Rb296d1dc6e6c4880" /><Relationship Type="http://schemas.openxmlformats.org/officeDocument/2006/relationships/slide" Target="/ppt/slides/slide9.xml" Id="R2c219bab8edb40ad" /><Relationship Type="http://schemas.openxmlformats.org/officeDocument/2006/relationships/slide" Target="/ppt/slides/slide10.xml" Id="R99e109dcdebf429e" /><Relationship Type="http://schemas.openxmlformats.org/officeDocument/2006/relationships/slide" Target="/ppt/slides/slide11.xml" Id="Ra41ddf13385749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def0ef66f345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nowva Charcoal">
      <a:dk1>
        <a:srgbClr val="000000"/>
      </a:dk1>
      <a:lt1>
        <a:srgbClr val="FFFFFF"/>
      </a:lt1>
      <a:dk2>
        <a:srgbClr val="15171C"/>
      </a:dk2>
      <a:lt2>
        <a:srgbClr val="DCE4EE"/>
      </a:lt2>
      <a:accent1>
        <a:srgbClr val="22B8C8"/>
      </a:accent1>
      <a:accent2>
        <a:srgbClr val="F4C95D"/>
      </a:accent2>
      <a:accent3>
        <a:srgbClr val="5FD49D"/>
      </a:accent3>
      <a:accent4>
        <a:srgbClr val="FF7A7A"/>
      </a:accent4>
      <a:accent5>
        <a:srgbClr val="596579"/>
      </a:accent5>
      <a:accent6>
        <a:srgbClr val="8FE7EF"/>
      </a:accent6>
      <a:hlink>
        <a:srgbClr val="8FE7EF"/>
      </a:hlink>
      <a:folHlink>
        <a:srgbClr val="F4C9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nowva Charco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934999833b4803" /><Relationship Type="http://schemas.openxmlformats.org/officeDocument/2006/relationships/notesMaster" Target="/ppt/notesMasters/notesMaster1.xml" Id="R4479b69cbcb947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9e97517bef4062" /><Relationship Type="http://schemas.openxmlformats.org/officeDocument/2006/relationships/notesMaster" Target="/ppt/notesMasters/notesMaster1.xml" Id="R72cd1f6306ba45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6c859198d44435" /><Relationship Type="http://schemas.openxmlformats.org/officeDocument/2006/relationships/notesMaster" Target="/ppt/notesMasters/notesMaster1.xml" Id="Rd60601333aba45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5802a728da4bda" /><Relationship Type="http://schemas.openxmlformats.org/officeDocument/2006/relationships/notesMaster" Target="/ppt/notesMasters/notesMaster1.xml" Id="Ra62041354a2f46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fa367803f84aff" /><Relationship Type="http://schemas.openxmlformats.org/officeDocument/2006/relationships/notesMaster" Target="/ppt/notesMasters/notesMaster1.xml" Id="R2119b0365fb04d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029c2fcde941e9" /><Relationship Type="http://schemas.openxmlformats.org/officeDocument/2006/relationships/notesMaster" Target="/ppt/notesMasters/notesMaster1.xml" Id="Rc11a36654c6642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6e148c70eb4d38" /><Relationship Type="http://schemas.openxmlformats.org/officeDocument/2006/relationships/notesMaster" Target="/ppt/notesMasters/notesMaster1.xml" Id="Ra6a4af00e7d447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74989f59314bf5" /><Relationship Type="http://schemas.openxmlformats.org/officeDocument/2006/relationships/notesMaster" Target="/ppt/notesMasters/notesMaster1.xml" Id="R44ac5d78ad0848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7d9ee5f30848c1" /><Relationship Type="http://schemas.openxmlformats.org/officeDocument/2006/relationships/notesMaster" Target="/ppt/notesMasters/notesMaster1.xml" Id="R4d0c7083f07246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8ee78e3c224b4d" /><Relationship Type="http://schemas.openxmlformats.org/officeDocument/2006/relationships/notesMaster" Target="/ppt/notesMasters/notesMaster1.xml" Id="Rd2c013e5d3d448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9d87639eb54fa0" /><Relationship Type="http://schemas.openxmlformats.org/officeDocument/2006/relationships/notesMaster" Target="/ppt/notesMasters/notesMaster1.xml" Id="R8113e9e98c124a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범위는 기획서부터 MVC 명세까지다.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설명은 loop로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MVP는 scope control이다.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범위 숫자는 요구사항 명세서와 SRS 기준이다.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Rule은 구현 기준이다.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간 역할 연결을 보여준다.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DB는 40개 table과 저장 책임 분리 중심으로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REST와 MVC boundary가 핵심이다.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MVC는 skeleton 작성의 직접 입력이다.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Skeleton은 trace 가능한 구조를 만드는 단계다.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 확인용 appendix다.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e6ad5929343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fa2980c7ac4a22" /><Relationship Type="http://schemas.openxmlformats.org/officeDocument/2006/relationships/slideLayout" Target="/ppt/slideLayouts/slideLayout1.xml" Id="R391d6fb8dce643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1d6fb8dce643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nowva Charcoal">
      <a:dk1>
        <a:srgbClr val="000000"/>
      </a:dk1>
      <a:lt1>
        <a:srgbClr val="FFFFFF"/>
      </a:lt1>
      <a:dk2>
        <a:srgbClr val="15171C"/>
      </a:dk2>
      <a:lt2>
        <a:srgbClr val="DCE4EE"/>
      </a:lt2>
      <a:accent1>
        <a:srgbClr val="22B8C8"/>
      </a:accent1>
      <a:accent2>
        <a:srgbClr val="F4C95D"/>
      </a:accent2>
      <a:accent3>
        <a:srgbClr val="5FD49D"/>
      </a:accent3>
      <a:accent4>
        <a:srgbClr val="FF7A7A"/>
      </a:accent4>
      <a:accent5>
        <a:srgbClr val="596579"/>
      </a:accent5>
      <a:accent6>
        <a:srgbClr val="8FE7EF"/>
      </a:accent6>
      <a:hlink>
        <a:srgbClr val="8FE7EF"/>
      </a:hlink>
      <a:folHlink>
        <a:srgbClr val="F4C9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nowva Charco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8f0e7fd1a4544" /><Relationship Type="http://schemas.openxmlformats.org/officeDocument/2006/relationships/notesSlide" Target="/ppt/notesSlides/notesSlide1.xml" Id="R3f5c59bee2074e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e7dee14cb4898" /><Relationship Type="http://schemas.openxmlformats.org/officeDocument/2006/relationships/notesSlide" Target="/ppt/notesSlides/notesSlide2.xml" Id="Re0606cd2d27f48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78e371bd5431f" /><Relationship Type="http://schemas.openxmlformats.org/officeDocument/2006/relationships/notesSlide" Target="/ppt/notesSlides/notesSlide3.xml" Id="R24687620785c4e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65e31aab644e8" /><Relationship Type="http://schemas.openxmlformats.org/officeDocument/2006/relationships/chart" Target="/ppt/slides/charts/chart1.xml" Id="Rb0ae553ea8aa4ef8" /><Relationship Type="http://schemas.openxmlformats.org/officeDocument/2006/relationships/notesSlide" Target="/ppt/notesSlides/notesSlide4.xml" Id="R341512c043e44f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0574f45174729" /><Relationship Type="http://schemas.openxmlformats.org/officeDocument/2006/relationships/notesSlide" Target="/ppt/notesSlides/notesSlide5.xml" Id="R97e39319ce7641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5942eb10746fc" /><Relationship Type="http://schemas.openxmlformats.org/officeDocument/2006/relationships/notesSlide" Target="/ppt/notesSlides/notesSlide6.xml" Id="R7c6a1bd42dc340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1e1cdcd4a44a6" /><Relationship Type="http://schemas.openxmlformats.org/officeDocument/2006/relationships/notesSlide" Target="/ppt/notesSlides/notesSlide7.xml" Id="R7c6257737dee43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8bb6e69604383" /><Relationship Type="http://schemas.openxmlformats.org/officeDocument/2006/relationships/notesSlide" Target="/ppt/notesSlides/notesSlide8.xml" Id="R86688dcf19a64b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520dad9864d89" /><Relationship Type="http://schemas.openxmlformats.org/officeDocument/2006/relationships/notesSlide" Target="/ppt/notesSlides/notesSlide9.xml" Id="R216abd27aa6f49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43e5c99074d28" /><Relationship Type="http://schemas.openxmlformats.org/officeDocument/2006/relationships/notesSlide" Target="/ppt/notesSlides/notesSlide10.xml" Id="Re9c97e88e1f147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680082c494c62" /><Relationship Type="http://schemas.openxmlformats.org/officeDocument/2006/relationships/notesSlide" Target="/ppt/notesSlides/notesSlide11.xml" Id="R62ce7908700448d8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Count</c:v>
          </c:tx>
          <c:spPr>
            <a:solidFill xmlns:a="http://schemas.openxmlformats.org/drawingml/2006/main">
              <a:srgbClr val="22B8C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FR</c:v>
              </c:pt>
              <c:pt idx="1">
                <c:v>NFR</c:v>
              </c:pt>
              <c:pt idx="2">
                <c:v>SR</c:v>
              </c:pt>
              <c:pt idx="3">
                <c:v>DR</c:v>
              </c:pt>
              <c:pt idx="4">
                <c:v>AC</c:v>
              </c:pt>
            </c:strLit>
          </c:cat>
          <c:val>
            <c:numLit>
              <c:formatCode>General</c:formatCode>
              <c:ptCount val="5"/>
              <c:pt idx="0">
                <c:v>66</c:v>
              </c:pt>
              <c:pt idx="1">
                <c:v>30</c:v>
              </c:pt>
              <c:pt idx="2">
                <c:v>15</c:v>
              </c:pt>
              <c:pt idx="3">
                <c:v>20</c:v>
              </c:pt>
              <c:pt idx="4">
                <c:v>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F4F7F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7D0DC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C354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A6B2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1A1D23"/>
        </a:solidFill>
      </c:spPr>
    </c:plotArea>
    <c:plotVisOnly val="1"/>
  </c:chart>
  <c:spPr>
    <a:solidFill xmlns:a="http://schemas.openxmlformats.org/drawingml/2006/main">
      <a:srgbClr val="1A1D23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94924BC5-A47D-41CE-B353-AC895B6A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23D0E1C-98EB-40B7-AF5D-B94DA24D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PROJECT PLANNING TO MVC SPEC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638B3DB-E889-4A6E-A223-71F9CB4F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552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Knowva 기획 문서</a:t>
            </a:r>
          </a:p>
          <a:p xmlns:a="http://schemas.openxmlformats.org/drawingml/2006/main">
            <a:pPr algn="l">
              <a:defRPr sz="42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발표 요약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D3912908-BFD5-4523-B7DE-14427331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프로젝트 기획서부터 SRS, DB, REST API, MVC 명세까지</a:t>
            </a:r>
          </a:p>
          <a:p xmlns:a="http://schemas.openxmlformats.org/drawingml/2006/main">
            <a:pPr algn="l">
              <a:defRPr sz="15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구현 전환 기준만 압축한 발표 자료</a:t>
            </a:r>
          </a:p>
        </p:txBody>
      </p:sp>
      <p:sp>
        <p:nvSpPr>
          <p:cNvPr id="5" name="cover-core-card">
            <a:extLst xmlns:a="http://schemas.openxmlformats.org/drawingml/2006/main">
              <a:ext uri="{FF2B5EF4-FFF2-40B4-BE49-F238E27FC236}">
                <a16:creationId xmlns:a16="http://schemas.microsoft.com/office/drawing/2014/main" id="{164B8D89-B7EF-4294-ACAF-BC948DE7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533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6" name="cover-core-accent">
            <a:extLst xmlns:a="http://schemas.openxmlformats.org/drawingml/2006/main">
              <a:ext uri="{FF2B5EF4-FFF2-40B4-BE49-F238E27FC236}">
                <a16:creationId xmlns:a16="http://schemas.microsoft.com/office/drawing/2014/main" id="{84C38A2B-2A4B-47B1-8255-FE144FEE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7" name="cover-core-head">
            <a:extLst xmlns:a="http://schemas.openxmlformats.org/drawingml/2006/main">
              <a:ext uri="{FF2B5EF4-FFF2-40B4-BE49-F238E27FC236}">
                <a16:creationId xmlns:a16="http://schemas.microsoft.com/office/drawing/2014/main" id="{E43C463C-6B11-4E26-9428-010E660A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발표 핵심</a:t>
            </a:r>
          </a:p>
        </p:txBody>
      </p:sp>
      <p:sp>
        <p:nvSpPr>
          <p:cNvPr id="8" name="cover-core-body">
            <a:extLst xmlns:a="http://schemas.openxmlformats.org/drawingml/2006/main">
              <a:ext uri="{FF2B5EF4-FFF2-40B4-BE49-F238E27FC236}">
                <a16:creationId xmlns:a16="http://schemas.microsoft.com/office/drawing/2014/main" id="{D89B73F8-251B-499B-AF05-26329F8A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문서가 많다는 사실보다, 어떤 결정이 skeleton 작성 기준으로 확정됐는지를 보여준다.</a:t>
            </a:r>
          </a:p>
        </p:txBody>
      </p:sp>
      <p:sp>
        <p:nvSpPr>
          <p:cNvPr id="9" name="doc-0">
            <a:extLst xmlns:a="http://schemas.openxmlformats.org/drawingml/2006/main">
              <a:ext uri="{FF2B5EF4-FFF2-40B4-BE49-F238E27FC236}">
                <a16:creationId xmlns:a16="http://schemas.microsoft.com/office/drawing/2014/main" id="{6D2ED206-AA1F-4B8E-A277-D012DB8D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5250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10" name="doc-t-0">
            <a:extLst xmlns:a="http://schemas.openxmlformats.org/drawingml/2006/main">
              <a:ext uri="{FF2B5EF4-FFF2-40B4-BE49-F238E27FC236}">
                <a16:creationId xmlns:a16="http://schemas.microsoft.com/office/drawing/2014/main" id="{998655F6-F273-4868-8FD6-BB14E2C9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047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기획서 v1.2</a:t>
            </a:r>
          </a:p>
        </p:txBody>
      </p:sp>
      <p:sp>
        <p:nvSpPr>
          <p:cNvPr id="11" name="doc-l-0">
            <a:extLst xmlns:a="http://schemas.openxmlformats.org/drawingml/2006/main">
              <a:ext uri="{FF2B5EF4-FFF2-40B4-BE49-F238E27FC236}">
                <a16:creationId xmlns:a16="http://schemas.microsoft.com/office/drawing/2014/main" id="{088F27FC-8001-4113-BDBF-1206EA4A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716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505F"/>
            </a:solidFill>
            <a:prstDash val="solid"/>
          </a:ln>
        </p:spPr>
      </p:sp>
      <p:sp>
        <p:nvSpPr>
          <p:cNvPr id="12" name="doc-1">
            <a:extLst xmlns:a="http://schemas.openxmlformats.org/drawingml/2006/main">
              <a:ext uri="{FF2B5EF4-FFF2-40B4-BE49-F238E27FC236}">
                <a16:creationId xmlns:a16="http://schemas.microsoft.com/office/drawing/2014/main" id="{1D2AF153-2F51-4DD5-9864-8ED5B75E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13" name="doc-t-1">
            <a:extLst xmlns:a="http://schemas.openxmlformats.org/drawingml/2006/main">
              <a:ext uri="{FF2B5EF4-FFF2-40B4-BE49-F238E27FC236}">
                <a16:creationId xmlns:a16="http://schemas.microsoft.com/office/drawing/2014/main" id="{3A145236-44F4-4827-9A43-ED68E8F8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38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요구사항 v1.3</a:t>
            </a:r>
          </a:p>
        </p:txBody>
      </p:sp>
      <p:sp>
        <p:nvSpPr>
          <p:cNvPr id="14" name="doc-l-1">
            <a:extLst xmlns:a="http://schemas.openxmlformats.org/drawingml/2006/main">
              <a:ext uri="{FF2B5EF4-FFF2-40B4-BE49-F238E27FC236}">
                <a16:creationId xmlns:a16="http://schemas.microsoft.com/office/drawing/2014/main" id="{48FEE87C-DE3F-4AB7-B980-39DEE0C4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505F"/>
            </a:solidFill>
            <a:prstDash val="solid"/>
          </a:ln>
        </p:spPr>
      </p:sp>
      <p:sp>
        <p:nvSpPr>
          <p:cNvPr id="15" name="doc-2">
            <a:extLst xmlns:a="http://schemas.openxmlformats.org/drawingml/2006/main">
              <a:ext uri="{FF2B5EF4-FFF2-40B4-BE49-F238E27FC236}">
                <a16:creationId xmlns:a16="http://schemas.microsoft.com/office/drawing/2014/main" id="{09B9BACC-CD25-4F7A-808C-BAF260B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3360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16" name="doc-t-2">
            <a:extLst xmlns:a="http://schemas.openxmlformats.org/drawingml/2006/main">
              <a:ext uri="{FF2B5EF4-FFF2-40B4-BE49-F238E27FC236}">
                <a16:creationId xmlns:a16="http://schemas.microsoft.com/office/drawing/2014/main" id="{B5502522-4039-4D8E-85F5-A1E6BEFA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28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SRS v0.2</a:t>
            </a:r>
          </a:p>
        </p:txBody>
      </p:sp>
      <p:sp>
        <p:nvSpPr>
          <p:cNvPr id="17" name="doc-l-2">
            <a:extLst xmlns:a="http://schemas.openxmlformats.org/drawingml/2006/main">
              <a:ext uri="{FF2B5EF4-FFF2-40B4-BE49-F238E27FC236}">
                <a16:creationId xmlns:a16="http://schemas.microsoft.com/office/drawing/2014/main" id="{DDBFBDC1-91F0-4F50-9FCE-4EC5C3B1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505F"/>
            </a:solidFill>
            <a:prstDash val="solid"/>
          </a:ln>
        </p:spPr>
      </p:sp>
      <p:sp>
        <p:nvSpPr>
          <p:cNvPr id="18" name="doc-3">
            <a:extLst xmlns:a="http://schemas.openxmlformats.org/drawingml/2006/main">
              <a:ext uri="{FF2B5EF4-FFF2-40B4-BE49-F238E27FC236}">
                <a16:creationId xmlns:a16="http://schemas.microsoft.com/office/drawing/2014/main" id="{C627D524-6305-41CB-B3FB-806C361F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19" name="doc-t-3">
            <a:extLst xmlns:a="http://schemas.openxmlformats.org/drawingml/2006/main">
              <a:ext uri="{FF2B5EF4-FFF2-40B4-BE49-F238E27FC236}">
                <a16:creationId xmlns:a16="http://schemas.microsoft.com/office/drawing/2014/main" id="{0B71296B-D572-4CF3-A2D9-8A15C355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19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매핑표 v0.4</a:t>
            </a:r>
          </a:p>
        </p:txBody>
      </p:sp>
      <p:sp>
        <p:nvSpPr>
          <p:cNvPr id="20" name="doc-l-3">
            <a:extLst xmlns:a="http://schemas.openxmlformats.org/drawingml/2006/main">
              <a:ext uri="{FF2B5EF4-FFF2-40B4-BE49-F238E27FC236}">
                <a16:creationId xmlns:a16="http://schemas.microsoft.com/office/drawing/2014/main" id="{EE2F179E-9E5C-4226-B84A-BD8C512D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505F"/>
            </a:solidFill>
            <a:prstDash val="solid"/>
          </a:ln>
        </p:spPr>
      </p:sp>
      <p:sp>
        <p:nvSpPr>
          <p:cNvPr id="21" name="doc-4">
            <a:extLst xmlns:a="http://schemas.openxmlformats.org/drawingml/2006/main">
              <a:ext uri="{FF2B5EF4-FFF2-40B4-BE49-F238E27FC236}">
                <a16:creationId xmlns:a16="http://schemas.microsoft.com/office/drawing/2014/main" id="{A175F3DE-54FF-4A78-B3AC-346BAC5C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2226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</p:sp>
      <p:sp>
        <p:nvSpPr>
          <p:cNvPr id="22" name="doc-t-4">
            <a:extLst xmlns:a="http://schemas.openxmlformats.org/drawingml/2006/main">
              <a:ext uri="{FF2B5EF4-FFF2-40B4-BE49-F238E27FC236}">
                <a16:creationId xmlns:a16="http://schemas.microsoft.com/office/drawing/2014/main" id="{3F1B035F-3732-4EC8-92FF-AB462867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09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DB v1.2</a:t>
            </a:r>
          </a:p>
        </p:txBody>
      </p:sp>
      <p:sp>
        <p:nvSpPr>
          <p:cNvPr id="23" name="doc-l-4">
            <a:extLst xmlns:a="http://schemas.openxmlformats.org/drawingml/2006/main">
              <a:ext uri="{FF2B5EF4-FFF2-40B4-BE49-F238E27FC236}">
                <a16:creationId xmlns:a16="http://schemas.microsoft.com/office/drawing/2014/main" id="{7873BFFB-C260-4312-A99C-CEEFF26B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338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505F"/>
            </a:solidFill>
            <a:prstDash val="solid"/>
          </a:ln>
        </p:spPr>
      </p:sp>
      <p:sp>
        <p:nvSpPr>
          <p:cNvPr id="24" name="doc-5">
            <a:extLst xmlns:a="http://schemas.openxmlformats.org/drawingml/2006/main">
              <a:ext uri="{FF2B5EF4-FFF2-40B4-BE49-F238E27FC236}">
                <a16:creationId xmlns:a16="http://schemas.microsoft.com/office/drawing/2014/main" id="{784F19D8-1E8C-42D5-B6E4-4663DA5E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2226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</p:sp>
      <p:sp>
        <p:nvSpPr>
          <p:cNvPr id="25" name="doc-t-5">
            <a:extLst xmlns:a="http://schemas.openxmlformats.org/drawingml/2006/main">
              <a:ext uri="{FF2B5EF4-FFF2-40B4-BE49-F238E27FC236}">
                <a16:creationId xmlns:a16="http://schemas.microsoft.com/office/drawing/2014/main" id="{632D3ECF-EA56-402F-AD8B-886825DB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00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REST v1.2</a:t>
            </a:r>
          </a:p>
        </p:txBody>
      </p:sp>
      <p:sp>
        <p:nvSpPr>
          <p:cNvPr id="26" name="doc-l-5">
            <a:extLst xmlns:a="http://schemas.openxmlformats.org/drawingml/2006/main">
              <a:ext uri="{FF2B5EF4-FFF2-40B4-BE49-F238E27FC236}">
                <a16:creationId xmlns:a16="http://schemas.microsoft.com/office/drawing/2014/main" id="{85290911-E11C-4531-89AA-2150F752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243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505F"/>
            </a:solidFill>
            <a:prstDash val="solid"/>
          </a:ln>
        </p:spPr>
      </p:sp>
      <p:sp>
        <p:nvSpPr>
          <p:cNvPr id="27" name="doc-6">
            <a:extLst xmlns:a="http://schemas.openxmlformats.org/drawingml/2006/main">
              <a:ext uri="{FF2B5EF4-FFF2-40B4-BE49-F238E27FC236}">
                <a16:creationId xmlns:a16="http://schemas.microsoft.com/office/drawing/2014/main" id="{26C416F4-79ED-4505-A6B5-14760BC9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9580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2226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</p:sp>
      <p:sp>
        <p:nvSpPr>
          <p:cNvPr id="28" name="doc-t-6">
            <a:extLst xmlns:a="http://schemas.openxmlformats.org/drawingml/2006/main">
              <a:ext uri="{FF2B5EF4-FFF2-40B4-BE49-F238E27FC236}">
                <a16:creationId xmlns:a16="http://schemas.microsoft.com/office/drawing/2014/main" id="{DE64BC1E-C452-41ED-B840-E2505A39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91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MVC v1.2</a:t>
            </a:r>
          </a:p>
        </p:txBody>
      </p:sp>
      <p:sp>
        <p:nvSpPr>
          <p:cNvPr id="29" name="footer-line-1">
            <a:extLst xmlns:a="http://schemas.openxmlformats.org/drawingml/2006/main">
              <a:ext uri="{FF2B5EF4-FFF2-40B4-BE49-F238E27FC236}">
                <a16:creationId xmlns:a16="http://schemas.microsoft.com/office/drawing/2014/main" id="{462D803A-E8C1-4124-8D03-5EC8264F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</p:sp>
      <p:sp>
        <p:nvSpPr>
          <p:cNvPr id="30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6D21CD1E-DEF9-4505-9224-A352F9BE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2026.06.17</a:t>
            </a:r>
          </a:p>
        </p:txBody>
      </p:sp>
      <p:sp>
        <p:nvSpPr>
          <p:cNvPr id="31" name="footer-right-1">
            <a:extLst xmlns:a="http://schemas.openxmlformats.org/drawingml/2006/main">
              <a:ext uri="{FF2B5EF4-FFF2-40B4-BE49-F238E27FC236}">
                <a16:creationId xmlns:a16="http://schemas.microsoft.com/office/drawing/2014/main" id="{08FAC435-D7BA-45FC-BD75-FE9794D8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85011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2DF197CF-DEE2-4D2A-BB5A-97C955FC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C2677F-AC97-40A5-9C89-054FD784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제품을 한 문장으로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9895D5C-C1F8-4E3E-BC1C-8E687B77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짧은 학습 loop와 AI 평가를 분리한 프로그래밍 학습 플랫폼</a:t>
            </a:r>
          </a:p>
        </p:txBody>
      </p:sp>
      <p:sp>
        <p:nvSpPr>
          <p:cNvPr id="4" name="one">
            <a:extLst xmlns:a="http://schemas.openxmlformats.org/drawingml/2006/main">
              <a:ext uri="{FF2B5EF4-FFF2-40B4-BE49-F238E27FC236}">
                <a16:creationId xmlns:a16="http://schemas.microsoft.com/office/drawing/2014/main" id="{E0B9B270-C1B9-4242-B1A4-35087A82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Knowva는 코딩 입문자가 짧은 이론 → 일반 문제풀이 → 오답 복습 → AI 시험/분석 → 다음 단계 해금으로 성장하는 웹 기반 학습 서비스다.</a:t>
            </a:r>
          </a:p>
        </p:txBody>
      </p:sp>
      <p:sp>
        <p:nvSpPr>
          <p:cNvPr id="5" name="loop-0-box">
            <a:extLst xmlns:a="http://schemas.openxmlformats.org/drawingml/2006/main">
              <a:ext uri="{FF2B5EF4-FFF2-40B4-BE49-F238E27FC236}">
                <a16:creationId xmlns:a16="http://schemas.microsoft.com/office/drawing/2014/main" id="{564D1204-B54D-49E7-BA5E-5B5FE752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</p:sp>
      <p:sp>
        <p:nvSpPr>
          <p:cNvPr id="6" name="loop-0-head">
            <a:extLst xmlns:a="http://schemas.openxmlformats.org/drawingml/2006/main">
              <a:ext uri="{FF2B5EF4-FFF2-40B4-BE49-F238E27FC236}">
                <a16:creationId xmlns:a16="http://schemas.microsoft.com/office/drawing/2014/main" id="{BEF5D5A2-40B7-455C-8D8A-CA4AC172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학습</a:t>
            </a:r>
          </a:p>
        </p:txBody>
      </p:sp>
      <p:sp>
        <p:nvSpPr>
          <p:cNvPr id="7" name="loop-0-body">
            <a:extLst xmlns:a="http://schemas.openxmlformats.org/drawingml/2006/main">
              <a:ext uri="{FF2B5EF4-FFF2-40B4-BE49-F238E27FC236}">
                <a16:creationId xmlns:a16="http://schemas.microsoft.com/office/drawing/2014/main" id="{D4789264-6273-47A8-97C5-9B4810BF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짧은 이론</a:t>
            </a:r>
          </a:p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로드맵</a:t>
            </a:r>
          </a:p>
        </p:txBody>
      </p:sp>
      <p:sp>
        <p:nvSpPr>
          <p:cNvPr id="8" name="arr-0">
            <a:extLst xmlns:a="http://schemas.openxmlformats.org/drawingml/2006/main">
              <a:ext uri="{FF2B5EF4-FFF2-40B4-BE49-F238E27FC236}">
                <a16:creationId xmlns:a16="http://schemas.microsoft.com/office/drawing/2014/main" id="{DB3F5C64-12BC-4D7D-8D43-3ABE1D6C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419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</p:sp>
      <p:sp>
        <p:nvSpPr>
          <p:cNvPr id="9" name="loop-1-box">
            <a:extLst xmlns:a="http://schemas.openxmlformats.org/drawingml/2006/main">
              <a:ext uri="{FF2B5EF4-FFF2-40B4-BE49-F238E27FC236}">
                <a16:creationId xmlns:a16="http://schemas.microsoft.com/office/drawing/2014/main" id="{25111DE8-B5D1-46BD-A46D-A419FA8E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</p:sp>
      <p:sp>
        <p:nvSpPr>
          <p:cNvPr id="10" name="loop-1-head">
            <a:extLst xmlns:a="http://schemas.openxmlformats.org/drawingml/2006/main">
              <a:ext uri="{FF2B5EF4-FFF2-40B4-BE49-F238E27FC236}">
                <a16:creationId xmlns:a16="http://schemas.microsoft.com/office/drawing/2014/main" id="{B84A6351-F966-4DA4-8CD1-A965CC43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03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문제풀이</a:t>
            </a:r>
          </a:p>
        </p:txBody>
      </p:sp>
      <p:sp>
        <p:nvSpPr>
          <p:cNvPr id="11" name="loop-1-body">
            <a:extLst xmlns:a="http://schemas.openxmlformats.org/drawingml/2006/main">
              <a:ext uri="{FF2B5EF4-FFF2-40B4-BE49-F238E27FC236}">
                <a16:creationId xmlns:a16="http://schemas.microsoft.com/office/drawing/2014/main" id="{DD7AA77A-ECB2-42AC-86C4-E6593783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147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10문제 세트</a:t>
            </a:r>
          </a:p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7/10 통과</a:t>
            </a:r>
          </a:p>
        </p:txBody>
      </p:sp>
      <p:sp>
        <p:nvSpPr>
          <p:cNvPr id="12" name="arr-1">
            <a:extLst xmlns:a="http://schemas.openxmlformats.org/drawingml/2006/main">
              <a:ext uri="{FF2B5EF4-FFF2-40B4-BE49-F238E27FC236}">
                <a16:creationId xmlns:a16="http://schemas.microsoft.com/office/drawing/2014/main" id="{55D2EEAA-B033-43F6-B506-A6CBDC84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419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</p:sp>
      <p:sp>
        <p:nvSpPr>
          <p:cNvPr id="13" name="loop-2-box">
            <a:extLst xmlns:a="http://schemas.openxmlformats.org/drawingml/2006/main">
              <a:ext uri="{FF2B5EF4-FFF2-40B4-BE49-F238E27FC236}">
                <a16:creationId xmlns:a16="http://schemas.microsoft.com/office/drawing/2014/main" id="{BA90666D-1398-479E-81F3-289FE6C4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</p:sp>
      <p:sp>
        <p:nvSpPr>
          <p:cNvPr id="14" name="loop-2-head">
            <a:extLst xmlns:a="http://schemas.openxmlformats.org/drawingml/2006/main">
              <a:ext uri="{FF2B5EF4-FFF2-40B4-BE49-F238E27FC236}">
                <a16:creationId xmlns:a16="http://schemas.microsoft.com/office/drawing/2014/main" id="{AEFB8488-5ACA-4697-8428-2C2CCACF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003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오답</a:t>
            </a:r>
          </a:p>
        </p:txBody>
      </p:sp>
      <p:sp>
        <p:nvSpPr>
          <p:cNvPr id="15" name="loop-2-body">
            <a:extLst xmlns:a="http://schemas.openxmlformats.org/drawingml/2006/main">
              <a:ext uri="{FF2B5EF4-FFF2-40B4-BE49-F238E27FC236}">
                <a16:creationId xmlns:a16="http://schemas.microsoft.com/office/drawing/2014/main" id="{3F39BEC8-396D-4CB2-BDE4-8A4F15C0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147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재풀이</a:t>
            </a:r>
          </a:p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+5 1회</a:t>
            </a:r>
          </a:p>
        </p:txBody>
      </p:sp>
      <p:sp>
        <p:nvSpPr>
          <p:cNvPr id="16" name="arr-2">
            <a:extLst xmlns:a="http://schemas.openxmlformats.org/drawingml/2006/main">
              <a:ext uri="{FF2B5EF4-FFF2-40B4-BE49-F238E27FC236}">
                <a16:creationId xmlns:a16="http://schemas.microsoft.com/office/drawing/2014/main" id="{258F822C-B16C-4988-BBAC-C01EA64A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419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</p:sp>
      <p:sp>
        <p:nvSpPr>
          <p:cNvPr id="17" name="loop-3-box">
            <a:extLst xmlns:a="http://schemas.openxmlformats.org/drawingml/2006/main">
              <a:ext uri="{FF2B5EF4-FFF2-40B4-BE49-F238E27FC236}">
                <a16:creationId xmlns:a16="http://schemas.microsoft.com/office/drawing/2014/main" id="{FB41C793-9734-45B0-8165-8C4F647B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18" name="loop-3-head">
            <a:extLst xmlns:a="http://schemas.openxmlformats.org/drawingml/2006/main">
              <a:ext uri="{FF2B5EF4-FFF2-40B4-BE49-F238E27FC236}">
                <a16:creationId xmlns:a16="http://schemas.microsoft.com/office/drawing/2014/main" id="{326E3FB8-23BE-4431-AEA4-748FC7B4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003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AI 시험</a:t>
            </a:r>
          </a:p>
        </p:txBody>
      </p:sp>
      <p:sp>
        <p:nvSpPr>
          <p:cNvPr id="19" name="loop-3-body">
            <a:extLst xmlns:a="http://schemas.openxmlformats.org/drawingml/2006/main">
              <a:ext uri="{FF2B5EF4-FFF2-40B4-BE49-F238E27FC236}">
                <a16:creationId xmlns:a16="http://schemas.microsoft.com/office/drawing/2014/main" id="{B2E5287B-112D-4A7F-8D85-C6F6A752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147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3문항</a:t>
            </a:r>
          </a:p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2/3 통과</a:t>
            </a:r>
          </a:p>
        </p:txBody>
      </p:sp>
      <p:sp>
        <p:nvSpPr>
          <p:cNvPr id="20" name="arr-3">
            <a:extLst xmlns:a="http://schemas.openxmlformats.org/drawingml/2006/main">
              <a:ext uri="{FF2B5EF4-FFF2-40B4-BE49-F238E27FC236}">
                <a16:creationId xmlns:a16="http://schemas.microsoft.com/office/drawing/2014/main" id="{D32B6B92-4F24-43DD-A32F-66888DB9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57550"/>
            <a:ext cx="419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</p:sp>
      <p:sp>
        <p:nvSpPr>
          <p:cNvPr id="21" name="loop-4-box">
            <a:extLst xmlns:a="http://schemas.openxmlformats.org/drawingml/2006/main">
              <a:ext uri="{FF2B5EF4-FFF2-40B4-BE49-F238E27FC236}">
                <a16:creationId xmlns:a16="http://schemas.microsoft.com/office/drawing/2014/main" id="{F8069D40-B711-4FBF-89DB-DF6DAB85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22" name="loop-4-head">
            <a:extLst xmlns:a="http://schemas.openxmlformats.org/drawingml/2006/main">
              <a:ext uri="{FF2B5EF4-FFF2-40B4-BE49-F238E27FC236}">
                <a16:creationId xmlns:a16="http://schemas.microsoft.com/office/drawing/2014/main" id="{C358EC9F-AC89-464A-BD84-0AC0CF62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037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23" name="loop-4-body">
            <a:extLst xmlns:a="http://schemas.openxmlformats.org/drawingml/2006/main">
              <a:ext uri="{FF2B5EF4-FFF2-40B4-BE49-F238E27FC236}">
                <a16:creationId xmlns:a16="http://schemas.microsoft.com/office/drawing/2014/main" id="{BC1D888D-A4FC-4B20-9F89-6B1AC2B4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147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무료 요약</a:t>
            </a:r>
          </a:p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Premium 상세</a:t>
            </a:r>
          </a:p>
        </p:txBody>
      </p:sp>
      <p:sp>
        <p:nvSpPr>
          <p:cNvPr id="24" name="actors-card">
            <a:extLst xmlns:a="http://schemas.openxmlformats.org/drawingml/2006/main">
              <a:ext uri="{FF2B5EF4-FFF2-40B4-BE49-F238E27FC236}">
                <a16:creationId xmlns:a16="http://schemas.microsoft.com/office/drawing/2014/main" id="{5F703266-A8BA-4D1E-9A34-47118E22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42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25" name="actors-accent">
            <a:extLst xmlns:a="http://schemas.openxmlformats.org/drawingml/2006/main">
              <a:ext uri="{FF2B5EF4-FFF2-40B4-BE49-F238E27FC236}">
                <a16:creationId xmlns:a16="http://schemas.microsoft.com/office/drawing/2014/main" id="{A92AF51E-DA66-4B58-A063-21C7A3F4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</p:sp>
      <p:sp>
        <p:nvSpPr>
          <p:cNvPr id="26" name="actors-head">
            <a:extLst xmlns:a="http://schemas.openxmlformats.org/drawingml/2006/main">
              <a:ext uri="{FF2B5EF4-FFF2-40B4-BE49-F238E27FC236}">
                <a16:creationId xmlns:a16="http://schemas.microsoft.com/office/drawing/2014/main" id="{F51C570D-B8EA-40E2-99A5-091ABE6F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주요 사용자</a:t>
            </a:r>
          </a:p>
        </p:txBody>
      </p:sp>
      <p:sp>
        <p:nvSpPr>
          <p:cNvPr id="27" name="actors-body">
            <a:extLst xmlns:a="http://schemas.openxmlformats.org/drawingml/2006/main">
              <a:ext uri="{FF2B5EF4-FFF2-40B4-BE49-F238E27FC236}">
                <a16:creationId xmlns:a16="http://schemas.microsoft.com/office/drawing/2014/main" id="{EF40EC09-19F9-42FF-93FE-AE04FC70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GUEST: 소개/인증</a:t>
            </a:r>
          </a:p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USER: 학습/시험/분석/커뮤니티</a:t>
            </a:r>
          </a:p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ADMIN: 운영 관리</a:t>
            </a:r>
          </a:p>
        </p:txBody>
      </p:sp>
      <p:sp>
        <p:nvSpPr>
          <p:cNvPr id="28" name="value-card">
            <a:extLst xmlns:a="http://schemas.openxmlformats.org/drawingml/2006/main">
              <a:ext uri="{FF2B5EF4-FFF2-40B4-BE49-F238E27FC236}">
                <a16:creationId xmlns:a16="http://schemas.microsoft.com/office/drawing/2014/main" id="{126AE154-5CE3-45CB-94D2-7AC5E8B8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72000"/>
            <a:ext cx="342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29" name="value-accent">
            <a:extLst xmlns:a="http://schemas.openxmlformats.org/drawingml/2006/main">
              <a:ext uri="{FF2B5EF4-FFF2-40B4-BE49-F238E27FC236}">
                <a16:creationId xmlns:a16="http://schemas.microsoft.com/office/drawing/2014/main" id="{37E87145-C51F-4EAE-B1F4-36A44C13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720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30" name="value-head">
            <a:extLst xmlns:a="http://schemas.openxmlformats.org/drawingml/2006/main">
              <a:ext uri="{FF2B5EF4-FFF2-40B4-BE49-F238E27FC236}">
                <a16:creationId xmlns:a16="http://schemas.microsoft.com/office/drawing/2014/main" id="{C788D98A-7822-4387-86AF-BB78ECB2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244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핵심 가치</a:t>
            </a:r>
          </a:p>
        </p:txBody>
      </p:sp>
      <p:sp>
        <p:nvSpPr>
          <p:cNvPr id="31" name="value-body">
            <a:extLst xmlns:a="http://schemas.openxmlformats.org/drawingml/2006/main">
              <a:ext uri="{FF2B5EF4-FFF2-40B4-BE49-F238E27FC236}">
                <a16:creationId xmlns:a16="http://schemas.microsoft.com/office/drawing/2014/main" id="{95CFC174-4BEE-42FA-933F-ADC76940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482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강의 시청에서 끝나지 않고 기록, 복습, 시험, 공유까지 이어지는 학습 지속성</a:t>
            </a:r>
          </a:p>
        </p:txBody>
      </p:sp>
      <p:sp>
        <p:nvSpPr>
          <p:cNvPr id="32" name="ai-card">
            <a:extLst xmlns:a="http://schemas.openxmlformats.org/drawingml/2006/main">
              <a:ext uri="{FF2B5EF4-FFF2-40B4-BE49-F238E27FC236}">
                <a16:creationId xmlns:a16="http://schemas.microsoft.com/office/drawing/2014/main" id="{45D7B3FB-042B-490A-AC84-337991DF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72000"/>
            <a:ext cx="342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33" name="ai-accent">
            <a:extLst xmlns:a="http://schemas.openxmlformats.org/drawingml/2006/main">
              <a:ext uri="{FF2B5EF4-FFF2-40B4-BE49-F238E27FC236}">
                <a16:creationId xmlns:a16="http://schemas.microsoft.com/office/drawing/2014/main" id="{8BFD48F6-B545-499D-9541-A0E32388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720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34" name="ai-head">
            <a:extLst xmlns:a="http://schemas.openxmlformats.org/drawingml/2006/main">
              <a:ext uri="{FF2B5EF4-FFF2-40B4-BE49-F238E27FC236}">
                <a16:creationId xmlns:a16="http://schemas.microsoft.com/office/drawing/2014/main" id="{7BC709B1-3ECE-4139-8D50-10F54A53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244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AI 경계</a:t>
            </a:r>
          </a:p>
        </p:txBody>
      </p:sp>
      <p:sp>
        <p:nvSpPr>
          <p:cNvPr id="35" name="ai-body">
            <a:extLst xmlns:a="http://schemas.openxmlformats.org/drawingml/2006/main">
              <a:ext uri="{FF2B5EF4-FFF2-40B4-BE49-F238E27FC236}">
                <a16:creationId xmlns:a16="http://schemas.microsoft.com/office/drawing/2014/main" id="{E8E06CD8-22F0-4E3F-BCE3-457B4EBB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482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일반 학습과 레벨 테스트에는 AI 미사용. 시험 생성, 채점, 분석에만 적용</a:t>
            </a:r>
          </a:p>
        </p:txBody>
      </p:sp>
      <p:sp>
        <p:nvSpPr>
          <p:cNvPr id="36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7DC6F791-4F78-4475-8D89-C0B907AE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</p:sp>
      <p:sp>
        <p:nvSpPr>
          <p:cNvPr id="37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A795AAC4-E215-4DFA-98AE-64B222C8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2026.06.17</a:t>
            </a:r>
          </a:p>
        </p:txBody>
      </p:sp>
      <p:sp>
        <p:nvSpPr>
          <p:cNvPr id="38" name="footer-right-2">
            <a:extLst xmlns:a="http://schemas.openxmlformats.org/drawingml/2006/main">
              <a:ext uri="{FF2B5EF4-FFF2-40B4-BE49-F238E27FC236}">
                <a16:creationId xmlns:a16="http://schemas.microsoft.com/office/drawing/2014/main" id="{79AFFAF3-9519-4D98-9C4D-9636647B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079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91D29FDC-74F5-4C74-B4DD-9110D462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57ABE0-4901-4A38-BEFB-7CC62396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MVP 범위는 넓지만 경계가 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82A0419-CA19-4D3B-89DA-C9B0B27E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필수 구현, 선택, 확장을 명확히 나눠 skeleton 폭주를 막는다</a:t>
            </a:r>
          </a:p>
        </p:txBody>
      </p:sp>
      <p:sp>
        <p:nvSpPr>
          <p:cNvPr id="4" name="scope-0">
            <a:extLst xmlns:a="http://schemas.openxmlformats.org/drawingml/2006/main">
              <a:ext uri="{FF2B5EF4-FFF2-40B4-BE49-F238E27FC236}">
                <a16:creationId xmlns:a16="http://schemas.microsoft.com/office/drawing/2014/main" id="{709DD90D-F772-4BC2-9FCA-DD3DA9F4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257550" cy="37338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5" name="scope-head-0">
            <a:extLst xmlns:a="http://schemas.openxmlformats.org/drawingml/2006/main">
              <a:ext uri="{FF2B5EF4-FFF2-40B4-BE49-F238E27FC236}">
                <a16:creationId xmlns:a16="http://schemas.microsoft.com/office/drawing/2014/main" id="{27498827-8633-4FAE-84AF-144E6841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257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B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6" name="scope-title-0">
            <a:extLst xmlns:a="http://schemas.openxmlformats.org/drawingml/2006/main">
              <a:ext uri="{FF2B5EF4-FFF2-40B4-BE49-F238E27FC236}">
                <a16:creationId xmlns:a16="http://schemas.microsoft.com/office/drawing/2014/main" id="{8F9B39A0-66B8-492E-A501-111A9971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62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MVP 포함</a:t>
            </a:r>
          </a:p>
        </p:txBody>
      </p:sp>
      <p:sp>
        <p:nvSpPr>
          <p:cNvPr id="7" name="scope-b-0-dot-0">
            <a:extLst xmlns:a="http://schemas.openxmlformats.org/drawingml/2006/main">
              <a:ext uri="{FF2B5EF4-FFF2-40B4-BE49-F238E27FC236}">
                <a16:creationId xmlns:a16="http://schemas.microsoft.com/office/drawing/2014/main" id="{7E4FF848-8E83-4216-AA6C-38BB1C00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8" name="scope-b-0-0">
            <a:extLst xmlns:a="http://schemas.openxmlformats.org/drawingml/2006/main">
              <a:ext uri="{FF2B5EF4-FFF2-40B4-BE49-F238E27FC236}">
                <a16:creationId xmlns:a16="http://schemas.microsoft.com/office/drawing/2014/main" id="{C9B371C5-0864-414C-8698-73489EE0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이메일 + Google/Kakao 로그인</a:t>
            </a:r>
          </a:p>
        </p:txBody>
      </p:sp>
      <p:sp>
        <p:nvSpPr>
          <p:cNvPr id="9" name="scope-b-0-dot-1">
            <a:extLst xmlns:a="http://schemas.openxmlformats.org/drawingml/2006/main">
              <a:ext uri="{FF2B5EF4-FFF2-40B4-BE49-F238E27FC236}">
                <a16:creationId xmlns:a16="http://schemas.microsoft.com/office/drawing/2014/main" id="{77505F74-8B0E-4645-9EFF-7C552AF8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10" name="scope-b-0-1">
            <a:extLst xmlns:a="http://schemas.openxmlformats.org/drawingml/2006/main">
              <a:ext uri="{FF2B5EF4-FFF2-40B4-BE49-F238E27FC236}">
                <a16:creationId xmlns:a16="http://schemas.microsoft.com/office/drawing/2014/main" id="{336667EF-DFC4-47A9-B0DD-E5053B68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과목 선택/초기 설정/레벨 테스트</a:t>
            </a:r>
          </a:p>
        </p:txBody>
      </p:sp>
      <p:sp>
        <p:nvSpPr>
          <p:cNvPr id="11" name="scope-b-0-dot-2">
            <a:extLst xmlns:a="http://schemas.openxmlformats.org/drawingml/2006/main">
              <a:ext uri="{FF2B5EF4-FFF2-40B4-BE49-F238E27FC236}">
                <a16:creationId xmlns:a16="http://schemas.microsoft.com/office/drawing/2014/main" id="{363DD4B7-98AF-4E12-87E5-1D4AAC2F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12" name="scope-b-0-2">
            <a:extLst xmlns:a="http://schemas.openxmlformats.org/drawingml/2006/main">
              <a:ext uri="{FF2B5EF4-FFF2-40B4-BE49-F238E27FC236}">
                <a16:creationId xmlns:a16="http://schemas.microsoft.com/office/drawing/2014/main" id="{3653B33C-2F44-42EE-B40B-2B032305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이론 학습/일반 문제/오답 복습</a:t>
            </a:r>
          </a:p>
        </p:txBody>
      </p:sp>
      <p:sp>
        <p:nvSpPr>
          <p:cNvPr id="13" name="scope-b-0-dot-3">
            <a:extLst xmlns:a="http://schemas.openxmlformats.org/drawingml/2006/main">
              <a:ext uri="{FF2B5EF4-FFF2-40B4-BE49-F238E27FC236}">
                <a16:creationId xmlns:a16="http://schemas.microsoft.com/office/drawing/2014/main" id="{69A7BE67-0256-494B-B308-BAE6399E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14" name="scope-b-0-3">
            <a:extLst xmlns:a="http://schemas.openxmlformats.org/drawingml/2006/main">
              <a:ext uri="{FF2B5EF4-FFF2-40B4-BE49-F238E27FC236}">
                <a16:creationId xmlns:a16="http://schemas.microsoft.com/office/drawing/2014/main" id="{DA8836BE-299B-4459-A6AD-2E262913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AI 시험/분석</a:t>
            </a:r>
          </a:p>
        </p:txBody>
      </p:sp>
      <p:sp>
        <p:nvSpPr>
          <p:cNvPr id="15" name="scope-b-0-dot-4">
            <a:extLst xmlns:a="http://schemas.openxmlformats.org/drawingml/2006/main">
              <a:ext uri="{FF2B5EF4-FFF2-40B4-BE49-F238E27FC236}">
                <a16:creationId xmlns:a16="http://schemas.microsoft.com/office/drawing/2014/main" id="{03BB29C9-A7CB-458B-8B45-A311EFBD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16" name="scope-b-0-4">
            <a:extLst xmlns:a="http://schemas.openxmlformats.org/drawingml/2006/main">
              <a:ext uri="{FF2B5EF4-FFF2-40B4-BE49-F238E27FC236}">
                <a16:creationId xmlns:a16="http://schemas.microsoft.com/office/drawing/2014/main" id="{0354616A-8788-4FE7-9850-7B41ACFE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커뮤니티/더미 결제/관리자</a:t>
            </a:r>
          </a:p>
        </p:txBody>
      </p:sp>
      <p:sp>
        <p:nvSpPr>
          <p:cNvPr id="17" name="scope-1">
            <a:extLst xmlns:a="http://schemas.openxmlformats.org/drawingml/2006/main">
              <a:ext uri="{FF2B5EF4-FFF2-40B4-BE49-F238E27FC236}">
                <a16:creationId xmlns:a16="http://schemas.microsoft.com/office/drawing/2014/main" id="{71D49782-C04F-4855-9AD1-18EB9BDE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257550" cy="37338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18" name="scope-head-1">
            <a:extLst xmlns:a="http://schemas.openxmlformats.org/drawingml/2006/main">
              <a:ext uri="{FF2B5EF4-FFF2-40B4-BE49-F238E27FC236}">
                <a16:creationId xmlns:a16="http://schemas.microsoft.com/office/drawing/2014/main" id="{DA53CBFE-F382-4F23-B517-6BD07F4B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257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B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19" name="scope-title-1">
            <a:extLst xmlns:a="http://schemas.openxmlformats.org/drawingml/2006/main">
              <a:ext uri="{FF2B5EF4-FFF2-40B4-BE49-F238E27FC236}">
                <a16:creationId xmlns:a16="http://schemas.microsoft.com/office/drawing/2014/main" id="{DD7E3C57-34E0-4B73-A03F-39FFD362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62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MVP 선택</a:t>
            </a:r>
          </a:p>
        </p:txBody>
      </p:sp>
      <p:sp>
        <p:nvSpPr>
          <p:cNvPr id="20" name="scope-b-1-dot-0">
            <a:extLst xmlns:a="http://schemas.openxmlformats.org/drawingml/2006/main">
              <a:ext uri="{FF2B5EF4-FFF2-40B4-BE49-F238E27FC236}">
                <a16:creationId xmlns:a16="http://schemas.microsoft.com/office/drawing/2014/main" id="{C4ED65CE-C909-4F4F-BB11-C6E7AB0D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21" name="scope-b-1-0">
            <a:extLst xmlns:a="http://schemas.openxmlformats.org/drawingml/2006/main">
              <a:ext uri="{FF2B5EF4-FFF2-40B4-BE49-F238E27FC236}">
                <a16:creationId xmlns:a16="http://schemas.microsoft.com/office/drawing/2014/main" id="{E752D21B-032B-4462-B66D-7B10770D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43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웰컴/튜토리얼 상세 저장</a:t>
            </a:r>
          </a:p>
        </p:txBody>
      </p:sp>
      <p:sp>
        <p:nvSpPr>
          <p:cNvPr id="22" name="scope-b-1-dot-1">
            <a:extLst xmlns:a="http://schemas.openxmlformats.org/drawingml/2006/main">
              <a:ext uri="{FF2B5EF4-FFF2-40B4-BE49-F238E27FC236}">
                <a16:creationId xmlns:a16="http://schemas.microsoft.com/office/drawing/2014/main" id="{F28363AD-7A77-4B6F-A8DA-FF7CDE2D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86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23" name="scope-b-1-1">
            <a:extLst xmlns:a="http://schemas.openxmlformats.org/drawingml/2006/main">
              <a:ext uri="{FF2B5EF4-FFF2-40B4-BE49-F238E27FC236}">
                <a16:creationId xmlns:a16="http://schemas.microsoft.com/office/drawing/2014/main" id="{A7D85FCE-7095-4BFF-8932-E073070A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비로그인 체험 문제</a:t>
            </a:r>
          </a:p>
        </p:txBody>
      </p:sp>
      <p:sp>
        <p:nvSpPr>
          <p:cNvPr id="24" name="scope-b-1-dot-2">
            <a:extLst xmlns:a="http://schemas.openxmlformats.org/drawingml/2006/main">
              <a:ext uri="{FF2B5EF4-FFF2-40B4-BE49-F238E27FC236}">
                <a16:creationId xmlns:a16="http://schemas.microsoft.com/office/drawing/2014/main" id="{65D0788C-AA1C-4709-A461-45E33403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25" name="scope-b-1-2">
            <a:extLst xmlns:a="http://schemas.openxmlformats.org/drawingml/2006/main">
              <a:ext uri="{FF2B5EF4-FFF2-40B4-BE49-F238E27FC236}">
                <a16:creationId xmlns:a16="http://schemas.microsoft.com/office/drawing/2014/main" id="{9EA4B5C6-62E0-4F63-B05E-2418F1CB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956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관리자 JSON 로그인</a:t>
            </a:r>
          </a:p>
        </p:txBody>
      </p:sp>
      <p:sp>
        <p:nvSpPr>
          <p:cNvPr id="26" name="scope-2">
            <a:extLst xmlns:a="http://schemas.openxmlformats.org/drawingml/2006/main">
              <a:ext uri="{FF2B5EF4-FFF2-40B4-BE49-F238E27FC236}">
                <a16:creationId xmlns:a16="http://schemas.microsoft.com/office/drawing/2014/main" id="{8E625496-47ED-4CA3-A7CD-0C9A3400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3257550" cy="37338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27" name="scope-head-2">
            <a:extLst xmlns:a="http://schemas.openxmlformats.org/drawingml/2006/main">
              <a:ext uri="{FF2B5EF4-FFF2-40B4-BE49-F238E27FC236}">
                <a16:creationId xmlns:a16="http://schemas.microsoft.com/office/drawing/2014/main" id="{39D1592F-9900-4C36-B878-E991495B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3257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B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</p:sp>
      <p:sp>
        <p:nvSpPr>
          <p:cNvPr id="28" name="scope-title-2">
            <a:extLst xmlns:a="http://schemas.openxmlformats.org/drawingml/2006/main">
              <a:ext uri="{FF2B5EF4-FFF2-40B4-BE49-F238E27FC236}">
                <a16:creationId xmlns:a16="http://schemas.microsoft.com/office/drawing/2014/main" id="{6D3D127B-9672-443E-A5C5-13CE17C0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D49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FD49D"/>
                </a:solidFill>
                <a:latin typeface="Malgun Gothic"/>
                <a:ea typeface="Malgun Gothic"/>
                <a:cs typeface="Malgun Gothic"/>
              </a:rPr>
              <a:t>확장</a:t>
            </a:r>
          </a:p>
        </p:txBody>
      </p:sp>
      <p:sp>
        <p:nvSpPr>
          <p:cNvPr id="29" name="scope-b-2-dot-0">
            <a:extLst xmlns:a="http://schemas.openxmlformats.org/drawingml/2006/main">
              <a:ext uri="{FF2B5EF4-FFF2-40B4-BE49-F238E27FC236}">
                <a16:creationId xmlns:a16="http://schemas.microsoft.com/office/drawing/2014/main" id="{09A878FF-FAA6-46D5-9895-9194B4EB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</p:sp>
      <p:sp>
        <p:nvSpPr>
          <p:cNvPr id="30" name="scope-b-2-0">
            <a:extLst xmlns:a="http://schemas.openxmlformats.org/drawingml/2006/main">
              <a:ext uri="{FF2B5EF4-FFF2-40B4-BE49-F238E27FC236}">
                <a16:creationId xmlns:a16="http://schemas.microsoft.com/office/drawing/2014/main" id="{17896AB6-AB27-4226-82BB-8A446E2D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실제 PG 결제</a:t>
            </a:r>
          </a:p>
        </p:txBody>
      </p:sp>
      <p:sp>
        <p:nvSpPr>
          <p:cNvPr id="31" name="scope-b-2-dot-1">
            <a:extLst xmlns:a="http://schemas.openxmlformats.org/drawingml/2006/main">
              <a:ext uri="{FF2B5EF4-FFF2-40B4-BE49-F238E27FC236}">
                <a16:creationId xmlns:a16="http://schemas.microsoft.com/office/drawing/2014/main" id="{0993DC45-DE3F-4E42-8DFD-36785F50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86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</p:sp>
      <p:sp>
        <p:nvSpPr>
          <p:cNvPr id="32" name="scope-b-2-1">
            <a:extLst xmlns:a="http://schemas.openxmlformats.org/drawingml/2006/main">
              <a:ext uri="{FF2B5EF4-FFF2-40B4-BE49-F238E27FC236}">
                <a16:creationId xmlns:a16="http://schemas.microsoft.com/office/drawing/2014/main" id="{E7FDA984-EE07-4ACE-A2A2-89A8D72F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고급 AI 분석</a:t>
            </a:r>
          </a:p>
        </p:txBody>
      </p:sp>
      <p:sp>
        <p:nvSpPr>
          <p:cNvPr id="33" name="scope-b-2-dot-2">
            <a:extLst xmlns:a="http://schemas.openxmlformats.org/drawingml/2006/main">
              <a:ext uri="{FF2B5EF4-FFF2-40B4-BE49-F238E27FC236}">
                <a16:creationId xmlns:a16="http://schemas.microsoft.com/office/drawing/2014/main" id="{B06E5EFE-C608-4B57-BE1D-B5F9796A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</p:sp>
      <p:sp>
        <p:nvSpPr>
          <p:cNvPr id="34" name="scope-b-2-2">
            <a:extLst xmlns:a="http://schemas.openxmlformats.org/drawingml/2006/main">
              <a:ext uri="{FF2B5EF4-FFF2-40B4-BE49-F238E27FC236}">
                <a16:creationId xmlns:a16="http://schemas.microsoft.com/office/drawing/2014/main" id="{B75C90E6-D73E-460A-9312-7FA2130C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콘텐츠 추천 고도화</a:t>
            </a:r>
          </a:p>
        </p:txBody>
      </p:sp>
      <p:sp>
        <p:nvSpPr>
          <p:cNvPr id="35" name="scope-b-2-dot-3">
            <a:extLst xmlns:a="http://schemas.openxmlformats.org/drawingml/2006/main">
              <a:ext uri="{FF2B5EF4-FFF2-40B4-BE49-F238E27FC236}">
                <a16:creationId xmlns:a16="http://schemas.microsoft.com/office/drawing/2014/main" id="{F05F07FD-B968-4810-9F5E-47C2DC9E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38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</p:sp>
      <p:sp>
        <p:nvSpPr>
          <p:cNvPr id="36" name="scope-b-2-3">
            <a:extLst xmlns:a="http://schemas.openxmlformats.org/drawingml/2006/main">
              <a:ext uri="{FF2B5EF4-FFF2-40B4-BE49-F238E27FC236}">
                <a16:creationId xmlns:a16="http://schemas.microsoft.com/office/drawing/2014/main" id="{39F650F5-F2A4-4319-8386-83D161CB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719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고급 랭킹</a:t>
            </a:r>
          </a:p>
        </p:txBody>
      </p:sp>
      <p:sp>
        <p:nvSpPr>
          <p:cNvPr id="37" name="scope-b-2-dot-4">
            <a:extLst xmlns:a="http://schemas.openxmlformats.org/drawingml/2006/main">
              <a:ext uri="{FF2B5EF4-FFF2-40B4-BE49-F238E27FC236}">
                <a16:creationId xmlns:a16="http://schemas.microsoft.com/office/drawing/2014/main" id="{5D8136AE-A80B-4C7E-BDD0-369DFBFE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14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</p:sp>
      <p:sp>
        <p:nvSpPr>
          <p:cNvPr id="38" name="scope-b-2-4">
            <a:extLst xmlns:a="http://schemas.openxmlformats.org/drawingml/2006/main">
              <a:ext uri="{FF2B5EF4-FFF2-40B4-BE49-F238E27FC236}">
                <a16:creationId xmlns:a16="http://schemas.microsoft.com/office/drawing/2014/main" id="{1F800CA3-B719-4BD4-938A-9E4A9777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481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모바일 최적화</a:t>
            </a:r>
          </a:p>
        </p:txBody>
      </p:sp>
      <p:sp>
        <p:nvSpPr>
          <p:cNvPr id="39" name="scope-note">
            <a:extLst xmlns:a="http://schemas.openxmlformats.org/drawingml/2006/main">
              <a:ext uri="{FF2B5EF4-FFF2-40B4-BE49-F238E27FC236}">
                <a16:creationId xmlns:a16="http://schemas.microsoft.com/office/drawing/2014/main" id="{A97BDEB4-4425-427A-88CA-AA9EDB30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발표 메시지: MVP는 시연 가능한 product slice이며, 실제 PG·고급 추천·모바일 최적화는 이번 skeleton 기준 밖이다.</a:t>
            </a:r>
          </a:p>
        </p:txBody>
      </p:sp>
      <p:sp>
        <p:nvSpPr>
          <p:cNvPr id="40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CF75A7AB-4018-4C64-976C-53A2F6D4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</p:sp>
      <p:sp>
        <p:nvSpPr>
          <p:cNvPr id="41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CE5D0C98-A742-4319-97DE-B21CC087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2026.06.17</a:t>
            </a:r>
          </a:p>
        </p:txBody>
      </p:sp>
      <p:sp>
        <p:nvSpPr>
          <p:cNvPr id="42" name="footer-right-3">
            <a:extLst xmlns:a="http://schemas.openxmlformats.org/drawingml/2006/main">
              <a:ext uri="{FF2B5EF4-FFF2-40B4-BE49-F238E27FC236}">
                <a16:creationId xmlns:a16="http://schemas.microsoft.com/office/drawing/2014/main" id="{55401BFD-AC5D-4D80-82DC-C81C95CD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1355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92668AE6-89EF-483A-9EE8-F3CBCCA2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609DE42-6DD5-4546-A10A-A08BE80C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요구사항은 ID 체계로 추적한다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6D71C12-F52D-451E-AA86-F111E574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FR/NFR/SR/DR/AC를 downstream 문서가 그대로 물고 간다</a:t>
            </a:r>
          </a:p>
        </p:txBody>
      </p:sp>
      <p:sp>
        <p:nvSpPr>
          <p:cNvPr id="4" name="chart-frame">
            <a:extLst xmlns:a="http://schemas.openxmlformats.org/drawingml/2006/main">
              <a:ext uri="{FF2B5EF4-FFF2-40B4-BE49-F238E27FC236}">
                <a16:creationId xmlns:a16="http://schemas.microsoft.com/office/drawing/2014/main" id="{94B70AD5-2150-481D-B0B3-ECD773E9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429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5" name="chart-title">
            <a:extLst xmlns:a="http://schemas.openxmlformats.org/drawingml/2006/main">
              <a:ext uri="{FF2B5EF4-FFF2-40B4-BE49-F238E27FC236}">
                <a16:creationId xmlns:a16="http://schemas.microsoft.com/office/drawing/2014/main" id="{D8D4380D-A975-4A10-92E7-A31A64D2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요구사항 단위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971550" y="2286000"/>
          <a:ext xmlns:a="http://schemas.openxmlformats.org/drawingml/2006/main" cx="47625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ae553ea8aa4ef8"/>
          </a:graphicData>
        </a:graphic>
      </p:graphicFrame>
      <p:sp>
        <p:nvSpPr>
          <p:cNvPr id="7" name="id-FR">
            <a:extLst xmlns:a="http://schemas.openxmlformats.org/drawingml/2006/main">
              <a:ext uri="{FF2B5EF4-FFF2-40B4-BE49-F238E27FC236}">
                <a16:creationId xmlns:a16="http://schemas.microsoft.com/office/drawing/2014/main" id="{5E5BD362-87DC-4FA3-AC88-68FDA535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4000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8" name="id-code-FR">
            <a:extLst xmlns:a="http://schemas.openxmlformats.org/drawingml/2006/main">
              <a:ext uri="{FF2B5EF4-FFF2-40B4-BE49-F238E27FC236}">
                <a16:creationId xmlns:a16="http://schemas.microsoft.com/office/drawing/2014/main" id="{F3806132-EDCA-4992-83BC-4A81E534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02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FR</a:t>
            </a:r>
          </a:p>
        </p:txBody>
      </p:sp>
      <p:sp>
        <p:nvSpPr>
          <p:cNvPr id="9" name="id-label-FR">
            <a:extLst xmlns:a="http://schemas.openxmlformats.org/drawingml/2006/main">
              <a:ext uri="{FF2B5EF4-FFF2-40B4-BE49-F238E27FC236}">
                <a16:creationId xmlns:a16="http://schemas.microsoft.com/office/drawing/2014/main" id="{9AA8A496-5C89-412B-B1ED-20430CB4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90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기능 요구사항</a:t>
            </a:r>
          </a:p>
        </p:txBody>
      </p:sp>
      <p:sp>
        <p:nvSpPr>
          <p:cNvPr id="10" name="id-count-FR">
            <a:extLst xmlns:a="http://schemas.openxmlformats.org/drawingml/2006/main">
              <a:ext uri="{FF2B5EF4-FFF2-40B4-BE49-F238E27FC236}">
                <a16:creationId xmlns:a16="http://schemas.microsoft.com/office/drawing/2014/main" id="{54476D6F-9FFE-4EF5-992A-F2361EF2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621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66</a:t>
            </a:r>
          </a:p>
        </p:txBody>
      </p:sp>
      <p:sp>
        <p:nvSpPr>
          <p:cNvPr id="11" name="id-NFR">
            <a:extLst xmlns:a="http://schemas.openxmlformats.org/drawingml/2006/main">
              <a:ext uri="{FF2B5EF4-FFF2-40B4-BE49-F238E27FC236}">
                <a16:creationId xmlns:a16="http://schemas.microsoft.com/office/drawing/2014/main" id="{BFE0A6AC-9510-4DCC-B2E8-B7ADBCE1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000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12" name="id-code-NFR">
            <a:extLst xmlns:a="http://schemas.openxmlformats.org/drawingml/2006/main">
              <a:ext uri="{FF2B5EF4-FFF2-40B4-BE49-F238E27FC236}">
                <a16:creationId xmlns:a16="http://schemas.microsoft.com/office/drawing/2014/main" id="{3B41A925-DF37-437C-8475-C6D60EB7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860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NFR</a:t>
            </a:r>
          </a:p>
        </p:txBody>
      </p:sp>
      <p:sp>
        <p:nvSpPr>
          <p:cNvPr id="13" name="id-label-NFR">
            <a:extLst xmlns:a="http://schemas.openxmlformats.org/drawingml/2006/main">
              <a:ext uri="{FF2B5EF4-FFF2-40B4-BE49-F238E27FC236}">
                <a16:creationId xmlns:a16="http://schemas.microsoft.com/office/drawing/2014/main" id="{E8E9B813-62B1-40B4-B22D-DCC1F9FF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비기능 요구사항</a:t>
            </a:r>
          </a:p>
        </p:txBody>
      </p:sp>
      <p:sp>
        <p:nvSpPr>
          <p:cNvPr id="14" name="id-count-NFR">
            <a:extLst xmlns:a="http://schemas.openxmlformats.org/drawingml/2006/main">
              <a:ext uri="{FF2B5EF4-FFF2-40B4-BE49-F238E27FC236}">
                <a16:creationId xmlns:a16="http://schemas.microsoft.com/office/drawing/2014/main" id="{E03107C5-AF17-4420-B31F-9E297159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479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15" name="id-SR">
            <a:extLst xmlns:a="http://schemas.openxmlformats.org/drawingml/2006/main">
              <a:ext uri="{FF2B5EF4-FFF2-40B4-BE49-F238E27FC236}">
                <a16:creationId xmlns:a16="http://schemas.microsoft.com/office/drawing/2014/main" id="{26B645C1-8F82-47FE-8C4A-9B96FA42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000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16" name="id-code-SR">
            <a:extLst xmlns:a="http://schemas.openxmlformats.org/drawingml/2006/main">
              <a:ext uri="{FF2B5EF4-FFF2-40B4-BE49-F238E27FC236}">
                <a16:creationId xmlns:a16="http://schemas.microsoft.com/office/drawing/2014/main" id="{467ED60B-EC06-4CDA-8D33-61171DDC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718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SR</a:t>
            </a:r>
          </a:p>
        </p:txBody>
      </p:sp>
      <p:sp>
        <p:nvSpPr>
          <p:cNvPr id="17" name="id-label-SR">
            <a:extLst xmlns:a="http://schemas.openxmlformats.org/drawingml/2006/main">
              <a:ext uri="{FF2B5EF4-FFF2-40B4-BE49-F238E27FC236}">
                <a16:creationId xmlns:a16="http://schemas.microsoft.com/office/drawing/2014/main" id="{5ED26085-7C9A-474D-9901-F9570483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62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화면 요구사항</a:t>
            </a:r>
          </a:p>
        </p:txBody>
      </p:sp>
      <p:sp>
        <p:nvSpPr>
          <p:cNvPr id="18" name="id-count-SR">
            <a:extLst xmlns:a="http://schemas.openxmlformats.org/drawingml/2006/main">
              <a:ext uri="{FF2B5EF4-FFF2-40B4-BE49-F238E27FC236}">
                <a16:creationId xmlns:a16="http://schemas.microsoft.com/office/drawing/2014/main" id="{531E8400-7627-4070-9E35-6779E31B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337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19" name="id-DR">
            <a:extLst xmlns:a="http://schemas.openxmlformats.org/drawingml/2006/main">
              <a:ext uri="{FF2B5EF4-FFF2-40B4-BE49-F238E27FC236}">
                <a16:creationId xmlns:a16="http://schemas.microsoft.com/office/drawing/2014/main" id="{CDA1AFB0-1E61-487E-9F67-7F6F705D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000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20" name="id-code-DR">
            <a:extLst xmlns:a="http://schemas.openxmlformats.org/drawingml/2006/main">
              <a:ext uri="{FF2B5EF4-FFF2-40B4-BE49-F238E27FC236}">
                <a16:creationId xmlns:a16="http://schemas.microsoft.com/office/drawing/2014/main" id="{B0507943-04BF-4907-B04B-5C7B68E6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576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DR</a:t>
            </a:r>
          </a:p>
        </p:txBody>
      </p:sp>
      <p:sp>
        <p:nvSpPr>
          <p:cNvPr id="21" name="id-label-DR">
            <a:extLst xmlns:a="http://schemas.openxmlformats.org/drawingml/2006/main">
              <a:ext uri="{FF2B5EF4-FFF2-40B4-BE49-F238E27FC236}">
                <a16:creationId xmlns:a16="http://schemas.microsoft.com/office/drawing/2014/main" id="{1CCBFB53-B358-4CFB-AF4A-89CB8B49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데이터 요구사항</a:t>
            </a:r>
          </a:p>
        </p:txBody>
      </p:sp>
      <p:sp>
        <p:nvSpPr>
          <p:cNvPr id="22" name="id-count-DR">
            <a:extLst xmlns:a="http://schemas.openxmlformats.org/drawingml/2006/main">
              <a:ext uri="{FF2B5EF4-FFF2-40B4-BE49-F238E27FC236}">
                <a16:creationId xmlns:a16="http://schemas.microsoft.com/office/drawing/2014/main" id="{5B2E5EA7-CD8B-40C8-A1B3-44219844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9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23" name="id-AC">
            <a:extLst xmlns:a="http://schemas.openxmlformats.org/drawingml/2006/main">
              <a:ext uri="{FF2B5EF4-FFF2-40B4-BE49-F238E27FC236}">
                <a16:creationId xmlns:a16="http://schemas.microsoft.com/office/drawing/2014/main" id="{7186F44E-F388-4883-AC3B-FBB27060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4000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24" name="id-code-AC">
            <a:extLst xmlns:a="http://schemas.openxmlformats.org/drawingml/2006/main">
              <a:ext uri="{FF2B5EF4-FFF2-40B4-BE49-F238E27FC236}">
                <a16:creationId xmlns:a16="http://schemas.microsoft.com/office/drawing/2014/main" id="{D408EDB4-DB97-43BA-831A-AA72D94D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434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AC</a:t>
            </a:r>
          </a:p>
        </p:txBody>
      </p:sp>
      <p:sp>
        <p:nvSpPr>
          <p:cNvPr id="25" name="id-label-AC">
            <a:extLst xmlns:a="http://schemas.openxmlformats.org/drawingml/2006/main">
              <a:ext uri="{FF2B5EF4-FFF2-40B4-BE49-F238E27FC236}">
                <a16:creationId xmlns:a16="http://schemas.microsoft.com/office/drawing/2014/main" id="{9C5A70D4-1FAF-4647-A33D-3DA4C56F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Acceptance Criteria</a:t>
            </a:r>
          </a:p>
        </p:txBody>
      </p:sp>
      <p:sp>
        <p:nvSpPr>
          <p:cNvPr id="26" name="id-count-AC">
            <a:extLst xmlns:a="http://schemas.openxmlformats.org/drawingml/2006/main">
              <a:ext uri="{FF2B5EF4-FFF2-40B4-BE49-F238E27FC236}">
                <a16:creationId xmlns:a16="http://schemas.microsoft.com/office/drawing/2014/main" id="{8763FBD0-0C86-4799-A7C1-3A2081D1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053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27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BA204CD7-A7A3-438A-AD96-6A2E7972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</p:sp>
      <p:sp>
        <p:nvSpPr>
          <p:cNvPr id="28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9964A1FF-EEFC-4287-A72C-2A7E38E4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2026.06.17</a:t>
            </a:r>
          </a:p>
        </p:txBody>
      </p:sp>
      <p:sp>
        <p:nvSpPr>
          <p:cNvPr id="29" name="footer-right-4">
            <a:extLst xmlns:a="http://schemas.openxmlformats.org/drawingml/2006/main">
              <a:ext uri="{FF2B5EF4-FFF2-40B4-BE49-F238E27FC236}">
                <a16:creationId xmlns:a16="http://schemas.microsoft.com/office/drawing/2014/main" id="{A3E34903-D972-4ECF-9497-3A32E016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32864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D2F7ABAF-163C-4EA6-9020-05B2DADB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ECEDB11-26EF-4225-B7DB-1C0CBBB3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Business Rule이 구현 결정을 고정한다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CA395BB-F55C-4F04-9F08-08A8C9D7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기획 문구를 코드 기준으로 바꾼 핵심 rule들</a:t>
            </a:r>
          </a:p>
        </p:txBody>
      </p:sp>
      <p:sp>
        <p:nvSpPr>
          <p:cNvPr id="4" name="rule-0-card">
            <a:extLst xmlns:a="http://schemas.openxmlformats.org/drawingml/2006/main">
              <a:ext uri="{FF2B5EF4-FFF2-40B4-BE49-F238E27FC236}">
                <a16:creationId xmlns:a16="http://schemas.microsoft.com/office/drawing/2014/main" id="{AC8E7CC4-74AA-41A3-8D79-9C7D8B6C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5" name="rule-0-accent">
            <a:extLst xmlns:a="http://schemas.openxmlformats.org/drawingml/2006/main">
              <a:ext uri="{FF2B5EF4-FFF2-40B4-BE49-F238E27FC236}">
                <a16:creationId xmlns:a16="http://schemas.microsoft.com/office/drawing/2014/main" id="{054A0E89-B6CA-4B9D-B117-E25CDCAE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6" name="rule-0-head">
            <a:extLst xmlns:a="http://schemas.openxmlformats.org/drawingml/2006/main">
              <a:ext uri="{FF2B5EF4-FFF2-40B4-BE49-F238E27FC236}">
                <a16:creationId xmlns:a16="http://schemas.microsoft.com/office/drawing/2014/main" id="{99F01526-1795-4CDB-9C91-D112AD78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AI 사용 범위</a:t>
            </a:r>
          </a:p>
        </p:txBody>
      </p:sp>
      <p:sp>
        <p:nvSpPr>
          <p:cNvPr id="7" name="rule-0-body">
            <a:extLst xmlns:a="http://schemas.openxmlformats.org/drawingml/2006/main">
              <a:ext uri="{FF2B5EF4-FFF2-40B4-BE49-F238E27FC236}">
                <a16:creationId xmlns:a16="http://schemas.microsoft.com/office/drawing/2014/main" id="{CE036801-C449-4735-B399-5E4DF202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일반 학습/레벨 테스트/일반 문제 채점에는 AI 미사용. AI는 시험 생성, 채점, 분석에만 연결한다.</a:t>
            </a:r>
          </a:p>
        </p:txBody>
      </p:sp>
      <p:sp>
        <p:nvSpPr>
          <p:cNvPr id="8" name="rule-1-card">
            <a:extLst xmlns:a="http://schemas.openxmlformats.org/drawingml/2006/main">
              <a:ext uri="{FF2B5EF4-FFF2-40B4-BE49-F238E27FC236}">
                <a16:creationId xmlns:a16="http://schemas.microsoft.com/office/drawing/2014/main" id="{E4C714EE-085C-44AF-94BE-7E352484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8115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9" name="rule-1-accent">
            <a:extLst xmlns:a="http://schemas.openxmlformats.org/drawingml/2006/main">
              <a:ext uri="{FF2B5EF4-FFF2-40B4-BE49-F238E27FC236}">
                <a16:creationId xmlns:a16="http://schemas.microsoft.com/office/drawing/2014/main" id="{EFD6655F-90CD-4DDC-B44F-E7A9E432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811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10" name="rule-1-head">
            <a:extLst xmlns:a="http://schemas.openxmlformats.org/drawingml/2006/main">
              <a:ext uri="{FF2B5EF4-FFF2-40B4-BE49-F238E27FC236}">
                <a16:creationId xmlns:a16="http://schemas.microsoft.com/office/drawing/2014/main" id="{FEDC1754-FFE9-4E76-9B11-61AB28A6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335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학습 gate</a:t>
            </a:r>
          </a:p>
        </p:txBody>
      </p:sp>
      <p:sp>
        <p:nvSpPr>
          <p:cNvPr id="11" name="rule-1-body">
            <a:extLst xmlns:a="http://schemas.openxmlformats.org/drawingml/2006/main">
              <a:ext uri="{FF2B5EF4-FFF2-40B4-BE49-F238E27FC236}">
                <a16:creationId xmlns:a16="http://schemas.microsoft.com/office/drawing/2014/main" id="{270B52C5-A127-473D-AF72-E77E1880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574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레벨 테스트 8문항, 일반 세트 10문제 7/10, AI 시험 3문항 2/3 통과 기준을 사용한다.</a:t>
            </a:r>
          </a:p>
        </p:txBody>
      </p:sp>
      <p:sp>
        <p:nvSpPr>
          <p:cNvPr id="12" name="rule-2-card">
            <a:extLst xmlns:a="http://schemas.openxmlformats.org/drawingml/2006/main">
              <a:ext uri="{FF2B5EF4-FFF2-40B4-BE49-F238E27FC236}">
                <a16:creationId xmlns:a16="http://schemas.microsoft.com/office/drawing/2014/main" id="{9E88E7DF-E839-4248-802C-D95DD00F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13" name="rule-2-accent">
            <a:extLst xmlns:a="http://schemas.openxmlformats.org/drawingml/2006/main">
              <a:ext uri="{FF2B5EF4-FFF2-40B4-BE49-F238E27FC236}">
                <a16:creationId xmlns:a16="http://schemas.microsoft.com/office/drawing/2014/main" id="{6DBA50F3-C6BB-45A7-8962-E3CF6BA1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</p:sp>
      <p:sp>
        <p:nvSpPr>
          <p:cNvPr id="14" name="rule-2-head">
            <a:extLst xmlns:a="http://schemas.openxmlformats.org/drawingml/2006/main">
              <a:ext uri="{FF2B5EF4-FFF2-40B4-BE49-F238E27FC236}">
                <a16:creationId xmlns:a16="http://schemas.microsoft.com/office/drawing/2014/main" id="{E91D7393-DA45-48CB-AFD9-96737EA6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점수와 랭킹</a:t>
            </a:r>
          </a:p>
        </p:txBody>
      </p:sp>
      <p:sp>
        <p:nvSpPr>
          <p:cNvPr id="15" name="rule-2-body">
            <a:extLst xmlns:a="http://schemas.openxmlformats.org/drawingml/2006/main">
              <a:ext uri="{FF2B5EF4-FFF2-40B4-BE49-F238E27FC236}">
                <a16:creationId xmlns:a16="http://schemas.microsoft.com/office/drawing/2014/main" id="{9E68E78D-C0F4-4A75-AA97-86334C98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정답 +10, 세트 완료 +50, AI 통과 +200, 오답 재정답 +5. 출석은 랭킹 점수에서 제외한다.</a:t>
            </a:r>
          </a:p>
        </p:txBody>
      </p:sp>
      <p:sp>
        <p:nvSpPr>
          <p:cNvPr id="16" name="rule-3-card">
            <a:extLst xmlns:a="http://schemas.openxmlformats.org/drawingml/2006/main">
              <a:ext uri="{FF2B5EF4-FFF2-40B4-BE49-F238E27FC236}">
                <a16:creationId xmlns:a16="http://schemas.microsoft.com/office/drawing/2014/main" id="{949A5C33-F6B2-4283-AD9A-77589A2E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17" name="rule-3-accent">
            <a:extLst xmlns:a="http://schemas.openxmlformats.org/drawingml/2006/main">
              <a:ext uri="{FF2B5EF4-FFF2-40B4-BE49-F238E27FC236}">
                <a16:creationId xmlns:a16="http://schemas.microsoft.com/office/drawing/2014/main" id="{70F0AD6C-1778-4C48-A121-24FEF603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E7EF"/>
          </a:solidFill>
          <a:ln xmlns:a="http://schemas.openxmlformats.org/drawingml/2006/main" w="0">
            <a:solidFill>
              <a:srgbClr val="8FE7EF"/>
            </a:solidFill>
            <a:prstDash val="solid"/>
          </a:ln>
        </p:spPr>
      </p:sp>
      <p:sp>
        <p:nvSpPr>
          <p:cNvPr id="18" name="rule-3-head">
            <a:extLst xmlns:a="http://schemas.openxmlformats.org/drawingml/2006/main">
              <a:ext uri="{FF2B5EF4-FFF2-40B4-BE49-F238E27FC236}">
                <a16:creationId xmlns:a16="http://schemas.microsoft.com/office/drawing/2014/main" id="{8E1B6479-85B1-4151-BE6E-D24C577F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결제와 권한</a:t>
            </a:r>
          </a:p>
        </p:txBody>
      </p:sp>
      <p:sp>
        <p:nvSpPr>
          <p:cNvPr id="19" name="rule-3-body">
            <a:extLst xmlns:a="http://schemas.openxmlformats.org/drawingml/2006/main">
              <a:ext uri="{FF2B5EF4-FFF2-40B4-BE49-F238E27FC236}">
                <a16:creationId xmlns:a16="http://schemas.microsoft.com/office/drawing/2014/main" id="{D4B01BC5-D7F3-449D-BE67-58033D92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MVP는 실제 PG 없이 dummy payment. Premium은 ROLE이 아니라 premium grant/status로 판정한다.</a:t>
            </a:r>
          </a:p>
        </p:txBody>
      </p:sp>
      <p:sp>
        <p:nvSpPr>
          <p:cNvPr id="20" name="rule-4-card">
            <a:extLst xmlns:a="http://schemas.openxmlformats.org/drawingml/2006/main">
              <a:ext uri="{FF2B5EF4-FFF2-40B4-BE49-F238E27FC236}">
                <a16:creationId xmlns:a16="http://schemas.microsoft.com/office/drawing/2014/main" id="{89C7A611-4B09-40B0-98E3-34346552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21" name="rule-4-accent">
            <a:extLst xmlns:a="http://schemas.openxmlformats.org/drawingml/2006/main">
              <a:ext uri="{FF2B5EF4-FFF2-40B4-BE49-F238E27FC236}">
                <a16:creationId xmlns:a16="http://schemas.microsoft.com/office/drawing/2014/main" id="{E12DDF85-066A-484E-BE56-9170723F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22" name="rule-4-head">
            <a:extLst xmlns:a="http://schemas.openxmlformats.org/drawingml/2006/main">
              <a:ext uri="{FF2B5EF4-FFF2-40B4-BE49-F238E27FC236}">
                <a16:creationId xmlns:a16="http://schemas.microsoft.com/office/drawing/2014/main" id="{197BBD15-6965-4812-A858-8E45D28A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커뮤니티</a:t>
            </a:r>
          </a:p>
        </p:txBody>
      </p:sp>
      <p:sp>
        <p:nvSpPr>
          <p:cNvPr id="23" name="rule-4-body">
            <a:extLst xmlns:a="http://schemas.openxmlformats.org/drawingml/2006/main">
              <a:ext uri="{FF2B5EF4-FFF2-40B4-BE49-F238E27FC236}">
                <a16:creationId xmlns:a16="http://schemas.microsoft.com/office/drawing/2014/main" id="{0CF28496-9A01-4E1D-865D-664186E1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게시판 유형은 FREE, QUESTION, STUDY_LOG. 첨부, 댓글/대댓글, 좋아요, 스크랩, 신고를 포함한다.</a:t>
            </a:r>
          </a:p>
        </p:txBody>
      </p:sp>
      <p:sp>
        <p:nvSpPr>
          <p:cNvPr id="24" name="rule-5-card">
            <a:extLst xmlns:a="http://schemas.openxmlformats.org/drawingml/2006/main">
              <a:ext uri="{FF2B5EF4-FFF2-40B4-BE49-F238E27FC236}">
                <a16:creationId xmlns:a16="http://schemas.microsoft.com/office/drawing/2014/main" id="{2EC69174-6A45-4F10-B23D-8A6C1932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0050"/>
            <a:ext cx="495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25" name="rule-5-accent">
            <a:extLst xmlns:a="http://schemas.openxmlformats.org/drawingml/2006/main">
              <a:ext uri="{FF2B5EF4-FFF2-40B4-BE49-F238E27FC236}">
                <a16:creationId xmlns:a16="http://schemas.microsoft.com/office/drawing/2014/main" id="{6E21FED5-DBA9-4773-9663-C4832222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00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FF7A7A"/>
            </a:solidFill>
            <a:prstDash val="solid"/>
          </a:ln>
        </p:spPr>
      </p:sp>
      <p:sp>
        <p:nvSpPr>
          <p:cNvPr id="26" name="rule-5-head">
            <a:extLst xmlns:a="http://schemas.openxmlformats.org/drawingml/2006/main">
              <a:ext uri="{FF2B5EF4-FFF2-40B4-BE49-F238E27FC236}">
                <a16:creationId xmlns:a16="http://schemas.microsoft.com/office/drawing/2014/main" id="{0CD23E05-248E-4FB9-8E39-8A162402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삭제/보안</a:t>
            </a:r>
          </a:p>
        </p:txBody>
      </p:sp>
      <p:sp>
        <p:nvSpPr>
          <p:cNvPr id="27" name="rule-5-body">
            <a:extLst xmlns:a="http://schemas.openxmlformats.org/drawingml/2006/main">
              <a:ext uri="{FF2B5EF4-FFF2-40B4-BE49-F238E27FC236}">
                <a16:creationId xmlns:a16="http://schemas.microsoft.com/office/drawing/2014/main" id="{1C1999EB-2132-444B-B6AE-2512D76D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461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회원 탈퇴는 soft delete + masking. admin은 ROLE_ADMIN 단일 권한으로 관리한다.</a:t>
            </a:r>
          </a:p>
        </p:txBody>
      </p:sp>
      <p:sp>
        <p:nvSpPr>
          <p:cNvPr id="28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C729AB84-8189-4F01-802F-10330142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</p:sp>
      <p:sp>
        <p:nvSpPr>
          <p:cNvPr id="29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A356B56A-8E1E-4737-B51C-36B4174C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2026.06.17</a:t>
            </a:r>
          </a:p>
        </p:txBody>
      </p:sp>
      <p:sp>
        <p:nvSpPr>
          <p:cNvPr id="30" name="footer-right-5">
            <a:extLst xmlns:a="http://schemas.openxmlformats.org/drawingml/2006/main">
              <a:ext uri="{FF2B5EF4-FFF2-40B4-BE49-F238E27FC236}">
                <a16:creationId xmlns:a16="http://schemas.microsoft.com/office/drawing/2014/main" id="{5A994B97-2BCE-47C7-9E7B-E3F197BF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8267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DC8BEA90-0FA2-420B-A2A7-6AA0BC95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15F2CD-0030-496B-B56C-DE3912AE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문서 흐름은 구현 trace chain이다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2799AA7-7466-4A9A-AB3B-C915A434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상위 기획이 DB/API/MVC skeleton 지시까지 이어진다</a:t>
            </a:r>
          </a:p>
        </p:txBody>
      </p:sp>
      <p:sp>
        <p:nvSpPr>
          <p:cNvPr id="4" name="chain-0-box">
            <a:extLst xmlns:a="http://schemas.openxmlformats.org/drawingml/2006/main">
              <a:ext uri="{FF2B5EF4-FFF2-40B4-BE49-F238E27FC236}">
                <a16:creationId xmlns:a16="http://schemas.microsoft.com/office/drawing/2014/main" id="{BBF32067-C0FC-4094-B6E9-CA9D063E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</p:sp>
      <p:sp>
        <p:nvSpPr>
          <p:cNvPr id="5" name="chain-0-head">
            <a:extLst xmlns:a="http://schemas.openxmlformats.org/drawingml/2006/main">
              <a:ext uri="{FF2B5EF4-FFF2-40B4-BE49-F238E27FC236}">
                <a16:creationId xmlns:a16="http://schemas.microsoft.com/office/drawing/2014/main" id="{9DDF7B3A-4B43-48E1-8469-127159C5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기획서</a:t>
            </a:r>
          </a:p>
        </p:txBody>
      </p:sp>
      <p:sp>
        <p:nvSpPr>
          <p:cNvPr id="6" name="chain-0-body">
            <a:extLst xmlns:a="http://schemas.openxmlformats.org/drawingml/2006/main">
              <a:ext uri="{FF2B5EF4-FFF2-40B4-BE49-F238E27FC236}">
                <a16:creationId xmlns:a16="http://schemas.microsoft.com/office/drawing/2014/main" id="{7293AB7C-AB6B-4772-A1F1-49F99BEA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문제/목적</a:t>
            </a:r>
          </a:p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MVP/AI 범위</a:t>
            </a:r>
          </a:p>
        </p:txBody>
      </p:sp>
      <p:sp>
        <p:nvSpPr>
          <p:cNvPr id="7" name="chain-arr-0">
            <a:extLst xmlns:a="http://schemas.openxmlformats.org/drawingml/2006/main">
              <a:ext uri="{FF2B5EF4-FFF2-40B4-BE49-F238E27FC236}">
                <a16:creationId xmlns:a16="http://schemas.microsoft.com/office/drawing/2014/main" id="{2D852D57-7443-4E3B-80C6-7A1D8E24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146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</p:sp>
      <p:sp>
        <p:nvSpPr>
          <p:cNvPr id="8" name="chain-1-box">
            <a:extLst xmlns:a="http://schemas.openxmlformats.org/drawingml/2006/main">
              <a:ext uri="{FF2B5EF4-FFF2-40B4-BE49-F238E27FC236}">
                <a16:creationId xmlns:a16="http://schemas.microsoft.com/office/drawing/2014/main" id="{74D8034D-20B0-4EBF-9352-98BEB7FE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955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</p:sp>
      <p:sp>
        <p:nvSpPr>
          <p:cNvPr id="9" name="chain-1-head">
            <a:extLst xmlns:a="http://schemas.openxmlformats.org/drawingml/2006/main">
              <a:ext uri="{FF2B5EF4-FFF2-40B4-BE49-F238E27FC236}">
                <a16:creationId xmlns:a16="http://schemas.microsoft.com/office/drawing/2014/main" id="{B04CB4BB-72EC-4BA3-9672-5EA7A35D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38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요구사항</a:t>
            </a:r>
          </a:p>
        </p:txBody>
      </p:sp>
      <p:sp>
        <p:nvSpPr>
          <p:cNvPr id="10" name="chain-1-body">
            <a:extLst xmlns:a="http://schemas.openxmlformats.org/drawingml/2006/main">
              <a:ext uri="{FF2B5EF4-FFF2-40B4-BE49-F238E27FC236}">
                <a16:creationId xmlns:a16="http://schemas.microsoft.com/office/drawing/2014/main" id="{534CF5AB-86C7-4F70-9980-F54921D5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527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FR/NFR</a:t>
            </a:r>
          </a:p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SR/DR/API</a:t>
            </a:r>
          </a:p>
        </p:txBody>
      </p:sp>
      <p:sp>
        <p:nvSpPr>
          <p:cNvPr id="11" name="chain-arr-1">
            <a:extLst xmlns:a="http://schemas.openxmlformats.org/drawingml/2006/main">
              <a:ext uri="{FF2B5EF4-FFF2-40B4-BE49-F238E27FC236}">
                <a16:creationId xmlns:a16="http://schemas.microsoft.com/office/drawing/2014/main" id="{14030DCE-7C10-4423-BF8B-C210F490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146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</p:sp>
      <p:sp>
        <p:nvSpPr>
          <p:cNvPr id="12" name="chain-2-box">
            <a:extLst xmlns:a="http://schemas.openxmlformats.org/drawingml/2006/main">
              <a:ext uri="{FF2B5EF4-FFF2-40B4-BE49-F238E27FC236}">
                <a16:creationId xmlns:a16="http://schemas.microsoft.com/office/drawing/2014/main" id="{A4396EFB-D5DD-4C2D-8197-4E513D1E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</p:sp>
      <p:sp>
        <p:nvSpPr>
          <p:cNvPr id="13" name="chain-2-head">
            <a:extLst xmlns:a="http://schemas.openxmlformats.org/drawingml/2006/main">
              <a:ext uri="{FF2B5EF4-FFF2-40B4-BE49-F238E27FC236}">
                <a16:creationId xmlns:a16="http://schemas.microsoft.com/office/drawing/2014/main" id="{792A34F0-B6DF-4DCA-837E-B43CFDDD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38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SRS</a:t>
            </a:r>
          </a:p>
        </p:txBody>
      </p:sp>
      <p:sp>
        <p:nvSpPr>
          <p:cNvPr id="14" name="chain-2-body">
            <a:extLst xmlns:a="http://schemas.openxmlformats.org/drawingml/2006/main">
              <a:ext uri="{FF2B5EF4-FFF2-40B4-BE49-F238E27FC236}">
                <a16:creationId xmlns:a16="http://schemas.microsoft.com/office/drawing/2014/main" id="{47EF2A7B-C489-4391-94D1-DB7DDC97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527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Business Rule</a:t>
            </a:r>
          </a:p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AC/Decision</a:t>
            </a:r>
          </a:p>
        </p:txBody>
      </p:sp>
      <p:sp>
        <p:nvSpPr>
          <p:cNvPr id="15" name="chain-arr-2">
            <a:extLst xmlns:a="http://schemas.openxmlformats.org/drawingml/2006/main">
              <a:ext uri="{FF2B5EF4-FFF2-40B4-BE49-F238E27FC236}">
                <a16:creationId xmlns:a16="http://schemas.microsoft.com/office/drawing/2014/main" id="{1E723EDB-4765-4FAA-9577-09AB00F5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146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</p:sp>
      <p:sp>
        <p:nvSpPr>
          <p:cNvPr id="16" name="chain-3-box">
            <a:extLst xmlns:a="http://schemas.openxmlformats.org/drawingml/2006/main">
              <a:ext uri="{FF2B5EF4-FFF2-40B4-BE49-F238E27FC236}">
                <a16:creationId xmlns:a16="http://schemas.microsoft.com/office/drawing/2014/main" id="{ED61F294-736B-4DE8-96DA-BE13D818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955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</p:sp>
      <p:sp>
        <p:nvSpPr>
          <p:cNvPr id="17" name="chain-3-head">
            <a:extLst xmlns:a="http://schemas.openxmlformats.org/drawingml/2006/main">
              <a:ext uri="{FF2B5EF4-FFF2-40B4-BE49-F238E27FC236}">
                <a16:creationId xmlns:a16="http://schemas.microsoft.com/office/drawing/2014/main" id="{4F30D63A-AD5F-43EF-8C08-5331D5BC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38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매핑표</a:t>
            </a:r>
          </a:p>
        </p:txBody>
      </p:sp>
      <p:sp>
        <p:nvSpPr>
          <p:cNvPr id="18" name="chain-3-body">
            <a:extLst xmlns:a="http://schemas.openxmlformats.org/drawingml/2006/main">
              <a:ext uri="{FF2B5EF4-FFF2-40B4-BE49-F238E27FC236}">
                <a16:creationId xmlns:a16="http://schemas.microsoft.com/office/drawing/2014/main" id="{3AF3ED47-FE86-40AB-9DD9-24B5DF74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527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화면 action</a:t>
            </a:r>
          </a:p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데이터/API/MVC</a:t>
            </a:r>
          </a:p>
        </p:txBody>
      </p:sp>
      <p:sp>
        <p:nvSpPr>
          <p:cNvPr id="19" name="chain-arr-3">
            <a:extLst xmlns:a="http://schemas.openxmlformats.org/drawingml/2006/main">
              <a:ext uri="{FF2B5EF4-FFF2-40B4-BE49-F238E27FC236}">
                <a16:creationId xmlns:a16="http://schemas.microsoft.com/office/drawing/2014/main" id="{7AE939AB-4DD2-4946-913D-6470789F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</p:sp>
      <p:sp>
        <p:nvSpPr>
          <p:cNvPr id="20" name="chain-4-box">
            <a:extLst xmlns:a="http://schemas.openxmlformats.org/drawingml/2006/main">
              <a:ext uri="{FF2B5EF4-FFF2-40B4-BE49-F238E27FC236}">
                <a16:creationId xmlns:a16="http://schemas.microsoft.com/office/drawing/2014/main" id="{FBB5D22A-66A6-457F-81C6-B8A89009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55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21" name="chain-4-head">
            <a:extLst xmlns:a="http://schemas.openxmlformats.org/drawingml/2006/main">
              <a:ext uri="{FF2B5EF4-FFF2-40B4-BE49-F238E27FC236}">
                <a16:creationId xmlns:a16="http://schemas.microsoft.com/office/drawing/2014/main" id="{884B07C5-0134-4E7A-A5AD-B0E6F1FF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38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DB</a:t>
            </a:r>
          </a:p>
        </p:txBody>
      </p:sp>
      <p:sp>
        <p:nvSpPr>
          <p:cNvPr id="22" name="chain-4-body">
            <a:extLst xmlns:a="http://schemas.openxmlformats.org/drawingml/2006/main">
              <a:ext uri="{FF2B5EF4-FFF2-40B4-BE49-F238E27FC236}">
                <a16:creationId xmlns:a16="http://schemas.microsoft.com/office/drawing/2014/main" id="{3ADF267F-DFE5-4E1D-8BF4-C9907C9F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table/entity</a:t>
            </a:r>
          </a:p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transaction</a:t>
            </a:r>
          </a:p>
        </p:txBody>
      </p:sp>
      <p:sp>
        <p:nvSpPr>
          <p:cNvPr id="23" name="chain-arr-4">
            <a:extLst xmlns:a="http://schemas.openxmlformats.org/drawingml/2006/main">
              <a:ext uri="{FF2B5EF4-FFF2-40B4-BE49-F238E27FC236}">
                <a16:creationId xmlns:a16="http://schemas.microsoft.com/office/drawing/2014/main" id="{B5D7CDDE-9F74-4353-87B0-1B8D3376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</p:sp>
      <p:sp>
        <p:nvSpPr>
          <p:cNvPr id="24" name="chain-5-box">
            <a:extLst xmlns:a="http://schemas.openxmlformats.org/drawingml/2006/main">
              <a:ext uri="{FF2B5EF4-FFF2-40B4-BE49-F238E27FC236}">
                <a16:creationId xmlns:a16="http://schemas.microsoft.com/office/drawing/2014/main" id="{0E43883D-2BF4-4F98-8A73-78BB1F28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955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25" name="chain-5-head">
            <a:extLst xmlns:a="http://schemas.openxmlformats.org/drawingml/2006/main">
              <a:ext uri="{FF2B5EF4-FFF2-40B4-BE49-F238E27FC236}">
                <a16:creationId xmlns:a16="http://schemas.microsoft.com/office/drawing/2014/main" id="{8E1BBD53-F5B1-4ED6-AE29-6EF17CA3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38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REST</a:t>
            </a:r>
          </a:p>
        </p:txBody>
      </p:sp>
      <p:sp>
        <p:nvSpPr>
          <p:cNvPr id="26" name="chain-5-body">
            <a:extLst xmlns:a="http://schemas.openxmlformats.org/drawingml/2006/main">
              <a:ext uri="{FF2B5EF4-FFF2-40B4-BE49-F238E27FC236}">
                <a16:creationId xmlns:a16="http://schemas.microsoft.com/office/drawing/2014/main" id="{4DFF6839-8D7E-4466-83DC-D08E63CD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527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endpoint/DTO</a:t>
            </a:r>
          </a:p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error/idempotency</a:t>
            </a:r>
          </a:p>
        </p:txBody>
      </p:sp>
      <p:sp>
        <p:nvSpPr>
          <p:cNvPr id="27" name="chain-arr-5">
            <a:extLst xmlns:a="http://schemas.openxmlformats.org/drawingml/2006/main">
              <a:ext uri="{FF2B5EF4-FFF2-40B4-BE49-F238E27FC236}">
                <a16:creationId xmlns:a16="http://schemas.microsoft.com/office/drawing/2014/main" id="{8AB6130E-82B7-4CD7-A81D-137D3658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14600"/>
            <a:ext cx="3238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34B"/>
          </a:solidFill>
          <a:ln xmlns:a="http://schemas.openxmlformats.org/drawingml/2006/main" w="0">
            <a:solidFill>
              <a:srgbClr val="33434B"/>
            </a:solidFill>
            <a:prstDash val="solid"/>
          </a:ln>
        </p:spPr>
      </p:sp>
      <p:sp>
        <p:nvSpPr>
          <p:cNvPr id="28" name="chain-6-box">
            <a:extLst xmlns:a="http://schemas.openxmlformats.org/drawingml/2006/main">
              <a:ext uri="{FF2B5EF4-FFF2-40B4-BE49-F238E27FC236}">
                <a16:creationId xmlns:a16="http://schemas.microsoft.com/office/drawing/2014/main" id="{B75DAD62-D932-42C1-B1C8-D0215B28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955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29" name="chain-6-head">
            <a:extLst xmlns:a="http://schemas.openxmlformats.org/drawingml/2006/main">
              <a:ext uri="{FF2B5EF4-FFF2-40B4-BE49-F238E27FC236}">
                <a16:creationId xmlns:a16="http://schemas.microsoft.com/office/drawing/2014/main" id="{7667FC68-CBA6-4CDB-BFDE-52D48F76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38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MVC</a:t>
            </a:r>
          </a:p>
        </p:txBody>
      </p:sp>
      <p:sp>
        <p:nvSpPr>
          <p:cNvPr id="30" name="chain-6-body">
            <a:extLst xmlns:a="http://schemas.openxmlformats.org/drawingml/2006/main">
              <a:ext uri="{FF2B5EF4-FFF2-40B4-BE49-F238E27FC236}">
                <a16:creationId xmlns:a16="http://schemas.microsoft.com/office/drawing/2014/main" id="{F6DCA023-874E-446C-9883-0F9783A4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527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route/view</a:t>
            </a:r>
          </a:p>
          <a:p xmlns:a="http://schemas.openxmlformats.org/drawingml/2006/main">
            <a:pPr algn="l">
              <a:def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controller/service/mapper</a:t>
            </a:r>
          </a:p>
        </p:txBody>
      </p:sp>
      <p:sp>
        <p:nvSpPr>
          <p:cNvPr id="31" name="trace-card">
            <a:extLst xmlns:a="http://schemas.openxmlformats.org/drawingml/2006/main">
              <a:ext uri="{FF2B5EF4-FFF2-40B4-BE49-F238E27FC236}">
                <a16:creationId xmlns:a16="http://schemas.microsoft.com/office/drawing/2014/main" id="{FF90E02B-C757-4210-924F-B318E2F8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914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32" name="trace-accent">
            <a:extLst xmlns:a="http://schemas.openxmlformats.org/drawingml/2006/main">
              <a:ext uri="{FF2B5EF4-FFF2-40B4-BE49-F238E27FC236}">
                <a16:creationId xmlns:a16="http://schemas.microsoft.com/office/drawing/2014/main" id="{4242632D-E837-4C97-978E-A1BEBD5B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</p:sp>
      <p:sp>
        <p:nvSpPr>
          <p:cNvPr id="33" name="trace-head">
            <a:extLst xmlns:a="http://schemas.openxmlformats.org/drawingml/2006/main">
              <a:ext uri="{FF2B5EF4-FFF2-40B4-BE49-F238E27FC236}">
                <a16:creationId xmlns:a16="http://schemas.microsoft.com/office/drawing/2014/main" id="{CDE955A7-41FD-4269-86B8-7F4B9F5E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48150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핵심 해석</a:t>
            </a:r>
          </a:p>
        </p:txBody>
      </p:sp>
      <p:sp>
        <p:nvSpPr>
          <p:cNvPr id="34" name="trace-body">
            <a:extLst xmlns:a="http://schemas.openxmlformats.org/drawingml/2006/main">
              <a:ext uri="{FF2B5EF4-FFF2-40B4-BE49-F238E27FC236}">
                <a16:creationId xmlns:a16="http://schemas.microsoft.com/office/drawing/2014/main" id="{E718A5F0-7F04-48EB-888D-BC4C713B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880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각 문서는 독립 산출물이 아니라 다음 산출물의 입력이다. 최종 skeleton은 SRS/DB/API/MVC 전체 trace를 따라야 한다.</a:t>
            </a:r>
          </a:p>
        </p:txBody>
      </p:sp>
      <p:sp>
        <p:nvSpPr>
          <p:cNvPr id="35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057786CB-A1CA-47FC-BEE0-5ACC875C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</p:sp>
      <p:sp>
        <p:nvSpPr>
          <p:cNvPr id="36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D7465C55-DEC7-4269-9107-F73A8946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2026.06.17</a:t>
            </a:r>
          </a:p>
        </p:txBody>
      </p:sp>
      <p:sp>
        <p:nvSpPr>
          <p:cNvPr id="37" name="footer-right-6">
            <a:extLst xmlns:a="http://schemas.openxmlformats.org/drawingml/2006/main">
              <a:ext uri="{FF2B5EF4-FFF2-40B4-BE49-F238E27FC236}">
                <a16:creationId xmlns:a16="http://schemas.microsoft.com/office/drawing/2014/main" id="{F4C218D9-837B-4140-BAE9-CBFF1813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9816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967AFFDE-F3DE-45C6-80A1-B3158B6C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188D60B-BC0E-4719-BC86-D80A1D4B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DB 명세는 domain별 저장 책임을 나눴다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15296D9-8657-42B6-B0D0-59D5CB71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MySQL 8 기준 40개 table을 domain cluster로 정리</a:t>
            </a:r>
          </a:p>
        </p:txBody>
      </p:sp>
      <p:sp>
        <p:nvSpPr>
          <p:cNvPr id="4" name="db40">
            <a:extLst xmlns:a="http://schemas.openxmlformats.org/drawingml/2006/main">
              <a:ext uri="{FF2B5EF4-FFF2-40B4-BE49-F238E27FC236}">
                <a16:creationId xmlns:a16="http://schemas.microsoft.com/office/drawing/2014/main" id="{1FCB1B09-0BC4-4246-9A71-D519C384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5" name="db-label">
            <a:extLst xmlns:a="http://schemas.openxmlformats.org/drawingml/2006/main">
              <a:ext uri="{FF2B5EF4-FFF2-40B4-BE49-F238E27FC236}">
                <a16:creationId xmlns:a16="http://schemas.microsoft.com/office/drawing/2014/main" id="{6836A728-B46D-4E36-AF5A-AB48F6D1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192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tables</a:t>
            </a:r>
          </a:p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MySQL 8 / InnoDB / utf8mb4</a:t>
            </a:r>
          </a:p>
        </p:txBody>
      </p:sp>
      <p:sp>
        <p:nvSpPr>
          <p:cNvPr id="6" name="db-points-dot-0">
            <a:extLst xmlns:a="http://schemas.openxmlformats.org/drawingml/2006/main">
              <a:ext uri="{FF2B5EF4-FFF2-40B4-BE49-F238E27FC236}">
                <a16:creationId xmlns:a16="http://schemas.microsoft.com/office/drawing/2014/main" id="{9D846AB2-DF56-414C-8489-4D12AEF6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52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7" name="db-points-0">
            <a:extLst xmlns:a="http://schemas.openxmlformats.org/drawingml/2006/main">
              <a:ext uri="{FF2B5EF4-FFF2-40B4-BE49-F238E27FC236}">
                <a16:creationId xmlns:a16="http://schemas.microsoft.com/office/drawing/2014/main" id="{462567EB-157B-4192-83B1-ABD47E9A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85900"/>
            <a:ext cx="512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VARCHAR + application enum</a:t>
            </a:r>
          </a:p>
        </p:txBody>
      </p:sp>
      <p:sp>
        <p:nvSpPr>
          <p:cNvPr id="8" name="db-points-dot-1">
            <a:extLst xmlns:a="http://schemas.openxmlformats.org/drawingml/2006/main">
              <a:ext uri="{FF2B5EF4-FFF2-40B4-BE49-F238E27FC236}">
                <a16:creationId xmlns:a16="http://schemas.microsoft.com/office/drawing/2014/main" id="{191EDC82-AB66-4053-8FDE-42C485F7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19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9" name="db-points-1">
            <a:extLst xmlns:a="http://schemas.openxmlformats.org/drawingml/2006/main">
              <a:ext uri="{FF2B5EF4-FFF2-40B4-BE49-F238E27FC236}">
                <a16:creationId xmlns:a16="http://schemas.microsoft.com/office/drawing/2014/main" id="{497428BA-69C8-482B-BFC9-554EE7E8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52600"/>
            <a:ext cx="512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Premium은 role이 아니라 grant</a:t>
            </a:r>
          </a:p>
        </p:txBody>
      </p:sp>
      <p:sp>
        <p:nvSpPr>
          <p:cNvPr id="10" name="db-points-dot-2">
            <a:extLst xmlns:a="http://schemas.openxmlformats.org/drawingml/2006/main">
              <a:ext uri="{FF2B5EF4-FFF2-40B4-BE49-F238E27FC236}">
                <a16:creationId xmlns:a16="http://schemas.microsoft.com/office/drawing/2014/main" id="{96426963-7488-4F87-B8FD-4540C4C8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85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11" name="db-points-2">
            <a:extLst xmlns:a="http://schemas.openxmlformats.org/drawingml/2006/main">
              <a:ext uri="{FF2B5EF4-FFF2-40B4-BE49-F238E27FC236}">
                <a16:creationId xmlns:a16="http://schemas.microsoft.com/office/drawing/2014/main" id="{BB80F60F-1937-4B85-B8CB-87765880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19300"/>
            <a:ext cx="512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soft delete + masking</a:t>
            </a:r>
          </a:p>
        </p:txBody>
      </p:sp>
      <p:sp>
        <p:nvSpPr>
          <p:cNvPr id="12" name="db-points-dot-3">
            <a:extLst xmlns:a="http://schemas.openxmlformats.org/drawingml/2006/main">
              <a:ext uri="{FF2B5EF4-FFF2-40B4-BE49-F238E27FC236}">
                <a16:creationId xmlns:a16="http://schemas.microsoft.com/office/drawing/2014/main" id="{D5D7CEC5-155B-4D49-B334-8FE1C7FE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52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13" name="db-points-3">
            <a:extLst xmlns:a="http://schemas.openxmlformats.org/drawingml/2006/main">
              <a:ext uri="{FF2B5EF4-FFF2-40B4-BE49-F238E27FC236}">
                <a16:creationId xmlns:a16="http://schemas.microsoft.com/office/drawing/2014/main" id="{B8964ACB-600C-408B-9350-3BEF28A8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86000"/>
            <a:ext cx="512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AI table은 시험/채점/분석만</a:t>
            </a:r>
          </a:p>
        </p:txBody>
      </p:sp>
      <p:sp>
        <p:nvSpPr>
          <p:cNvPr id="14" name="db-0-card">
            <a:extLst xmlns:a="http://schemas.openxmlformats.org/drawingml/2006/main">
              <a:ext uri="{FF2B5EF4-FFF2-40B4-BE49-F238E27FC236}">
                <a16:creationId xmlns:a16="http://schemas.microsoft.com/office/drawing/2014/main" id="{C62E5DD9-81D0-47EF-8214-641E4AC6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15" name="db-0-accent">
            <a:extLst xmlns:a="http://schemas.openxmlformats.org/drawingml/2006/main">
              <a:ext uri="{FF2B5EF4-FFF2-40B4-BE49-F238E27FC236}">
                <a16:creationId xmlns:a16="http://schemas.microsoft.com/office/drawing/2014/main" id="{4BB74724-180C-48B0-BF3B-B4486A9D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16" name="db-0-head">
            <a:extLst xmlns:a="http://schemas.openxmlformats.org/drawingml/2006/main">
              <a:ext uri="{FF2B5EF4-FFF2-40B4-BE49-F238E27FC236}">
                <a16:creationId xmlns:a16="http://schemas.microsoft.com/office/drawing/2014/main" id="{5D28756B-FDFB-4CAC-8601-9508CA21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회원/인증/설정</a:t>
            </a:r>
          </a:p>
        </p:txBody>
      </p:sp>
      <p:sp>
        <p:nvSpPr>
          <p:cNvPr id="17" name="db-0-body">
            <a:extLst xmlns:a="http://schemas.openxmlformats.org/drawingml/2006/main">
              <a:ext uri="{FF2B5EF4-FFF2-40B4-BE49-F238E27FC236}">
                <a16:creationId xmlns:a16="http://schemas.microsoft.com/office/drawing/2014/main" id="{29C1910C-963D-4E32-B662-24DBE61A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users, credentials, social, settings, profiles</a:t>
            </a:r>
          </a:p>
        </p:txBody>
      </p:sp>
      <p:sp>
        <p:nvSpPr>
          <p:cNvPr id="18" name="db-1-card">
            <a:extLst xmlns:a="http://schemas.openxmlformats.org/drawingml/2006/main">
              <a:ext uri="{FF2B5EF4-FFF2-40B4-BE49-F238E27FC236}">
                <a16:creationId xmlns:a16="http://schemas.microsoft.com/office/drawing/2014/main" id="{A34AB139-F34C-47A0-A9CE-BFE87025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19" name="db-1-accent">
            <a:extLst xmlns:a="http://schemas.openxmlformats.org/drawingml/2006/main">
              <a:ext uri="{FF2B5EF4-FFF2-40B4-BE49-F238E27FC236}">
                <a16:creationId xmlns:a16="http://schemas.microsoft.com/office/drawing/2014/main" id="{29C00D5F-80B0-47F9-93F5-54D91C15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</p:sp>
      <p:sp>
        <p:nvSpPr>
          <p:cNvPr id="20" name="db-1-head">
            <a:extLst xmlns:a="http://schemas.openxmlformats.org/drawingml/2006/main">
              <a:ext uri="{FF2B5EF4-FFF2-40B4-BE49-F238E27FC236}">
                <a16:creationId xmlns:a16="http://schemas.microsoft.com/office/drawing/2014/main" id="{7653CD6F-BD8A-44C5-B2DE-C7B937D6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956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학습/문제/점수</a:t>
            </a:r>
          </a:p>
        </p:txBody>
      </p:sp>
      <p:sp>
        <p:nvSpPr>
          <p:cNvPr id="21" name="db-1-body">
            <a:extLst xmlns:a="http://schemas.openxmlformats.org/drawingml/2006/main">
              <a:ext uri="{FF2B5EF4-FFF2-40B4-BE49-F238E27FC236}">
                <a16:creationId xmlns:a16="http://schemas.microsoft.com/office/drawing/2014/main" id="{32972930-0755-4799-8A73-2596785A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195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subjects, curriculum, lessons, practice, score, ranking</a:t>
            </a:r>
          </a:p>
        </p:txBody>
      </p:sp>
      <p:sp>
        <p:nvSpPr>
          <p:cNvPr id="22" name="db-2-card">
            <a:extLst xmlns:a="http://schemas.openxmlformats.org/drawingml/2006/main">
              <a:ext uri="{FF2B5EF4-FFF2-40B4-BE49-F238E27FC236}">
                <a16:creationId xmlns:a16="http://schemas.microsoft.com/office/drawing/2014/main" id="{33CE073D-8536-49E5-89CF-88D0B4B1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23" name="db-2-accent">
            <a:extLst xmlns:a="http://schemas.openxmlformats.org/drawingml/2006/main">
              <a:ext uri="{FF2B5EF4-FFF2-40B4-BE49-F238E27FC236}">
                <a16:creationId xmlns:a16="http://schemas.microsoft.com/office/drawing/2014/main" id="{F8326A45-4BB3-4CC4-A35A-642EF591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24" name="db-2-head">
            <a:extLst xmlns:a="http://schemas.openxmlformats.org/drawingml/2006/main">
              <a:ext uri="{FF2B5EF4-FFF2-40B4-BE49-F238E27FC236}">
                <a16:creationId xmlns:a16="http://schemas.microsoft.com/office/drawing/2014/main" id="{7A816FC5-197A-4AFC-B17C-3B3F71E9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956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AI 시험/분석</a:t>
            </a:r>
          </a:p>
        </p:txBody>
      </p:sp>
      <p:sp>
        <p:nvSpPr>
          <p:cNvPr id="25" name="db-2-body">
            <a:extLst xmlns:a="http://schemas.openxmlformats.org/drawingml/2006/main">
              <a:ext uri="{FF2B5EF4-FFF2-40B4-BE49-F238E27FC236}">
                <a16:creationId xmlns:a16="http://schemas.microsoft.com/office/drawing/2014/main" id="{AF6B3493-3C00-494E-90DC-0766C31B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195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exam_sessions, ai_exam_problems, answers, reports, logs</a:t>
            </a:r>
          </a:p>
        </p:txBody>
      </p:sp>
      <p:sp>
        <p:nvSpPr>
          <p:cNvPr id="26" name="db-3-card">
            <a:extLst xmlns:a="http://schemas.openxmlformats.org/drawingml/2006/main">
              <a:ext uri="{FF2B5EF4-FFF2-40B4-BE49-F238E27FC236}">
                <a16:creationId xmlns:a16="http://schemas.microsoft.com/office/drawing/2014/main" id="{9C46D54D-0121-4F3C-A09B-73E3CC08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27" name="db-3-accent">
            <a:extLst xmlns:a="http://schemas.openxmlformats.org/drawingml/2006/main">
              <a:ext uri="{FF2B5EF4-FFF2-40B4-BE49-F238E27FC236}">
                <a16:creationId xmlns:a16="http://schemas.microsoft.com/office/drawing/2014/main" id="{04E33442-2A71-4D62-BEDE-98100A4B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E7EF"/>
          </a:solidFill>
          <a:ln xmlns:a="http://schemas.openxmlformats.org/drawingml/2006/main" w="0">
            <a:solidFill>
              <a:srgbClr val="8FE7EF"/>
            </a:solidFill>
            <a:prstDash val="solid"/>
          </a:ln>
        </p:spPr>
      </p:sp>
      <p:sp>
        <p:nvSpPr>
          <p:cNvPr id="28" name="db-3-head">
            <a:extLst xmlns:a="http://schemas.openxmlformats.org/drawingml/2006/main">
              <a:ext uri="{FF2B5EF4-FFF2-40B4-BE49-F238E27FC236}">
                <a16:creationId xmlns:a16="http://schemas.microsoft.com/office/drawing/2014/main" id="{52E35C2A-0D17-494D-8448-C353F62E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커뮤니티</a:t>
            </a:r>
          </a:p>
        </p:txBody>
      </p:sp>
      <p:sp>
        <p:nvSpPr>
          <p:cNvPr id="29" name="db-3-body">
            <a:extLst xmlns:a="http://schemas.openxmlformats.org/drawingml/2006/main">
              <a:ext uri="{FF2B5EF4-FFF2-40B4-BE49-F238E27FC236}">
                <a16:creationId xmlns:a16="http://schemas.microsoft.com/office/drawing/2014/main" id="{ED026609-88B2-42D6-8819-DC45BF81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posts, attachments, comments, likes, scraps, reports</a:t>
            </a:r>
          </a:p>
        </p:txBody>
      </p:sp>
      <p:sp>
        <p:nvSpPr>
          <p:cNvPr id="30" name="db-4-card">
            <a:extLst xmlns:a="http://schemas.openxmlformats.org/drawingml/2006/main">
              <a:ext uri="{FF2B5EF4-FFF2-40B4-BE49-F238E27FC236}">
                <a16:creationId xmlns:a16="http://schemas.microsoft.com/office/drawing/2014/main" id="{184B8A39-AFCD-4590-A420-A1129268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31" name="db-4-accent">
            <a:extLst xmlns:a="http://schemas.openxmlformats.org/drawingml/2006/main">
              <a:ext uri="{FF2B5EF4-FFF2-40B4-BE49-F238E27FC236}">
                <a16:creationId xmlns:a16="http://schemas.microsoft.com/office/drawing/2014/main" id="{68FD900A-3DC5-44AD-B561-FB81C94D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32" name="db-4-head">
            <a:extLst xmlns:a="http://schemas.openxmlformats.org/drawingml/2006/main">
              <a:ext uri="{FF2B5EF4-FFF2-40B4-BE49-F238E27FC236}">
                <a16:creationId xmlns:a16="http://schemas.microsoft.com/office/drawing/2014/main" id="{F43AF518-335D-4B54-9593-762EAF77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291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결제/Premium</a:t>
            </a:r>
          </a:p>
        </p:txBody>
      </p:sp>
      <p:sp>
        <p:nvSpPr>
          <p:cNvPr id="33" name="db-4-body">
            <a:extLst xmlns:a="http://schemas.openxmlformats.org/drawingml/2006/main">
              <a:ext uri="{FF2B5EF4-FFF2-40B4-BE49-F238E27FC236}">
                <a16:creationId xmlns:a16="http://schemas.microsoft.com/office/drawing/2014/main" id="{5DB0550F-DE59-4C11-A281-9C63A7B7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530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payment_products, dummy_payments, premium_grants</a:t>
            </a:r>
          </a:p>
        </p:txBody>
      </p:sp>
      <p:sp>
        <p:nvSpPr>
          <p:cNvPr id="34" name="db-5-card">
            <a:extLst xmlns:a="http://schemas.openxmlformats.org/drawingml/2006/main">
              <a:ext uri="{FF2B5EF4-FFF2-40B4-BE49-F238E27FC236}">
                <a16:creationId xmlns:a16="http://schemas.microsoft.com/office/drawing/2014/main" id="{7692D2FB-9483-437C-9F8B-D7F51677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35" name="db-5-accent">
            <a:extLst xmlns:a="http://schemas.openxmlformats.org/drawingml/2006/main">
              <a:ext uri="{FF2B5EF4-FFF2-40B4-BE49-F238E27FC236}">
                <a16:creationId xmlns:a16="http://schemas.microsoft.com/office/drawing/2014/main" id="{3835F4EC-F7A4-4BD6-AB92-DBCDFD21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</p:sp>
      <p:sp>
        <p:nvSpPr>
          <p:cNvPr id="36" name="db-5-head">
            <a:extLst xmlns:a="http://schemas.openxmlformats.org/drawingml/2006/main">
              <a:ext uri="{FF2B5EF4-FFF2-40B4-BE49-F238E27FC236}">
                <a16:creationId xmlns:a16="http://schemas.microsoft.com/office/drawing/2014/main" id="{FB95CE51-98A5-47AC-91B6-CF70ADBD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관리자/확장</a:t>
            </a:r>
          </a:p>
        </p:txBody>
      </p:sp>
      <p:sp>
        <p:nvSpPr>
          <p:cNvPr id="37" name="db-5-body">
            <a:extLst xmlns:a="http://schemas.openxmlformats.org/drawingml/2006/main">
              <a:ext uri="{FF2B5EF4-FFF2-40B4-BE49-F238E27FC236}">
                <a16:creationId xmlns:a16="http://schemas.microsoft.com/office/drawing/2014/main" id="{A00F889D-7D32-4F1A-ABA4-A976061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530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notices, admin_operation_logs, content_recommendations</a:t>
            </a:r>
          </a:p>
        </p:txBody>
      </p:sp>
      <p:sp>
        <p:nvSpPr>
          <p:cNvPr id="38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FE20495C-E6EC-475B-A3BA-92645DA0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</p:sp>
      <p:sp>
        <p:nvSpPr>
          <p:cNvPr id="39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15E5EFE4-2FC3-43FD-ADBD-CA99D8DC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2026.06.17</a:t>
            </a:r>
          </a:p>
        </p:txBody>
      </p:sp>
      <p:sp>
        <p:nvSpPr>
          <p:cNvPr id="40" name="footer-right-7">
            <a:extLst xmlns:a="http://schemas.openxmlformats.org/drawingml/2006/main">
              <a:ext uri="{FF2B5EF4-FFF2-40B4-BE49-F238E27FC236}">
                <a16:creationId xmlns:a16="http://schemas.microsoft.com/office/drawing/2014/main" id="{BD53ABE6-78BC-4E6E-90F4-D99D0A49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13494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007AA6C9-141C-4091-A8E7-C40A73B8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130A8D-D000-49A0-A469-6E30DEA9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REST API는 JSON 경계를 담당한다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BA26BDF-47DB-44E9-AB51-D0609216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화면 navigation과 JSON contract를 섞지 않는다</a:t>
            </a:r>
          </a:p>
        </p:txBody>
      </p:sp>
      <p:sp>
        <p:nvSpPr>
          <p:cNvPr id="4" name="api-json">
            <a:extLst xmlns:a="http://schemas.openxmlformats.org/drawingml/2006/main">
              <a:ext uri="{FF2B5EF4-FFF2-40B4-BE49-F238E27FC236}">
                <a16:creationId xmlns:a16="http://schemas.microsoft.com/office/drawing/2014/main" id="{49C90F86-F02F-4229-940C-D1271213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</p:sp>
      <p:sp>
        <p:nvSpPr>
          <p:cNvPr id="5" name="api-json-t">
            <a:extLst xmlns:a="http://schemas.openxmlformats.org/drawingml/2006/main">
              <a:ext uri="{FF2B5EF4-FFF2-40B4-BE49-F238E27FC236}">
                <a16:creationId xmlns:a16="http://schemas.microsoft.com/office/drawing/2014/main" id="{CA2DDE5D-9722-44FC-95CE-303822DC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/api/** JSON API</a:t>
            </a:r>
          </a:p>
        </p:txBody>
      </p:sp>
      <p:sp>
        <p:nvSpPr>
          <p:cNvPr id="6" name="api-json-b-dot-0">
            <a:extLst xmlns:a="http://schemas.openxmlformats.org/drawingml/2006/main">
              <a:ext uri="{FF2B5EF4-FFF2-40B4-BE49-F238E27FC236}">
                <a16:creationId xmlns:a16="http://schemas.microsoft.com/office/drawing/2014/main" id="{E8985B31-69D8-44E8-83CE-3130EA34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7" name="api-json-b-0">
            <a:extLst xmlns:a="http://schemas.openxmlformats.org/drawingml/2006/main">
              <a:ext uri="{FF2B5EF4-FFF2-40B4-BE49-F238E27FC236}">
                <a16:creationId xmlns:a16="http://schemas.microsoft.com/office/drawing/2014/main" id="{F66F6074-3C96-4EA1-9044-486052DD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ApiResponse&lt;T&gt; / PageResponse&lt;T&gt;</a:t>
            </a:r>
          </a:p>
        </p:txBody>
      </p:sp>
      <p:sp>
        <p:nvSpPr>
          <p:cNvPr id="8" name="api-json-b-dot-1">
            <a:extLst xmlns:a="http://schemas.openxmlformats.org/drawingml/2006/main">
              <a:ext uri="{FF2B5EF4-FFF2-40B4-BE49-F238E27FC236}">
                <a16:creationId xmlns:a16="http://schemas.microsoft.com/office/drawing/2014/main" id="{914777B2-5B7E-4295-9663-0394C5F5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81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9" name="api-json-b-1">
            <a:extLst xmlns:a="http://schemas.openxmlformats.org/drawingml/2006/main">
              <a:ext uri="{FF2B5EF4-FFF2-40B4-BE49-F238E27FC236}">
                <a16:creationId xmlns:a16="http://schemas.microsoft.com/office/drawing/2014/main" id="{0E9388C9-2B41-4389-B635-78A49307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Bean Validation + domain error code</a:t>
            </a:r>
          </a:p>
        </p:txBody>
      </p:sp>
      <p:sp>
        <p:nvSpPr>
          <p:cNvPr id="10" name="api-json-b-dot-2">
            <a:extLst xmlns:a="http://schemas.openxmlformats.org/drawingml/2006/main">
              <a:ext uri="{FF2B5EF4-FFF2-40B4-BE49-F238E27FC236}">
                <a16:creationId xmlns:a16="http://schemas.microsoft.com/office/drawing/2014/main" id="{3F1677D2-D818-4C21-8454-03CF0306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8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11" name="api-json-b-2">
            <a:extLst xmlns:a="http://schemas.openxmlformats.org/drawingml/2006/main">
              <a:ext uri="{FF2B5EF4-FFF2-40B4-BE49-F238E27FC236}">
                <a16:creationId xmlns:a16="http://schemas.microsoft.com/office/drawing/2014/main" id="{BAB4F6E6-3595-4A72-851A-4C89EDEC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Session cookie 기반 인증</a:t>
            </a:r>
          </a:p>
        </p:txBody>
      </p:sp>
      <p:sp>
        <p:nvSpPr>
          <p:cNvPr id="12" name="api-json-b-dot-3">
            <a:extLst xmlns:a="http://schemas.openxmlformats.org/drawingml/2006/main">
              <a:ext uri="{FF2B5EF4-FFF2-40B4-BE49-F238E27FC236}">
                <a16:creationId xmlns:a16="http://schemas.microsoft.com/office/drawing/2014/main" id="{242EA72A-AE8E-4232-80D8-0B22142E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95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13" name="api-json-b-3">
            <a:extLst xmlns:a="http://schemas.openxmlformats.org/drawingml/2006/main">
              <a:ext uri="{FF2B5EF4-FFF2-40B4-BE49-F238E27FC236}">
                <a16:creationId xmlns:a16="http://schemas.microsoft.com/office/drawing/2014/main" id="{6C57C574-A8C9-472B-BD27-E909B289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Idempotency-Key 필수 endpoint</a:t>
            </a:r>
          </a:p>
        </p:txBody>
      </p:sp>
      <p:sp>
        <p:nvSpPr>
          <p:cNvPr id="14" name="api-json-b-dot-4">
            <a:extLst xmlns:a="http://schemas.openxmlformats.org/drawingml/2006/main">
              <a:ext uri="{FF2B5EF4-FFF2-40B4-BE49-F238E27FC236}">
                <a16:creationId xmlns:a16="http://schemas.microsoft.com/office/drawing/2014/main" id="{687658D8-9C32-459D-ADFE-9AE5B912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15" name="api-json-b-4">
            <a:extLst xmlns:a="http://schemas.openxmlformats.org/drawingml/2006/main">
              <a:ext uri="{FF2B5EF4-FFF2-40B4-BE49-F238E27FC236}">
                <a16:creationId xmlns:a16="http://schemas.microsoft.com/office/drawing/2014/main" id="{E97B988F-7AA3-4619-9637-D5EDDC29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AI status polling과 AJAX action</a:t>
            </a:r>
          </a:p>
        </p:txBody>
      </p:sp>
      <p:sp>
        <p:nvSpPr>
          <p:cNvPr id="16" name="api-mvc">
            <a:extLst xmlns:a="http://schemas.openxmlformats.org/drawingml/2006/main">
              <a:ext uri="{FF2B5EF4-FFF2-40B4-BE49-F238E27FC236}">
                <a16:creationId xmlns:a16="http://schemas.microsoft.com/office/drawing/2014/main" id="{48FA3189-CA53-46ED-B19B-89796008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81150"/>
            <a:ext cx="4953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17" name="api-mvc-t">
            <a:extLst xmlns:a="http://schemas.openxmlformats.org/drawingml/2006/main">
              <a:ext uri="{FF2B5EF4-FFF2-40B4-BE49-F238E27FC236}">
                <a16:creationId xmlns:a16="http://schemas.microsoft.com/office/drawing/2014/main" id="{5E0C5A67-05AA-4CCA-A6E8-A097B9BA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66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MVC/browser route</a:t>
            </a:r>
          </a:p>
        </p:txBody>
      </p:sp>
      <p:sp>
        <p:nvSpPr>
          <p:cNvPr id="18" name="api-mvc-b-dot-0">
            <a:extLst xmlns:a="http://schemas.openxmlformats.org/drawingml/2006/main">
              <a:ext uri="{FF2B5EF4-FFF2-40B4-BE49-F238E27FC236}">
                <a16:creationId xmlns:a16="http://schemas.microsoft.com/office/drawing/2014/main" id="{53FDF3CC-AFB9-48B2-AF33-BCE65C7D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24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19" name="api-mvc-b-0">
            <a:extLst xmlns:a="http://schemas.openxmlformats.org/drawingml/2006/main">
              <a:ext uri="{FF2B5EF4-FFF2-40B4-BE49-F238E27FC236}">
                <a16:creationId xmlns:a16="http://schemas.microsoft.com/office/drawing/2014/main" id="{27D4EF8B-ED4E-4FB8-95F6-D87BD10B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OAuth redirect/callback</a:t>
            </a:r>
          </a:p>
        </p:txBody>
      </p:sp>
      <p:sp>
        <p:nvSpPr>
          <p:cNvPr id="20" name="api-mvc-b-dot-1">
            <a:extLst xmlns:a="http://schemas.openxmlformats.org/drawingml/2006/main">
              <a:ext uri="{FF2B5EF4-FFF2-40B4-BE49-F238E27FC236}">
                <a16:creationId xmlns:a16="http://schemas.microsoft.com/office/drawing/2014/main" id="{EA9875A7-FAB3-4509-949A-BFBDDFE5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81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21" name="api-mvc-b-1">
            <a:extLst xmlns:a="http://schemas.openxmlformats.org/drawingml/2006/main">
              <a:ext uri="{FF2B5EF4-FFF2-40B4-BE49-F238E27FC236}">
                <a16:creationId xmlns:a16="http://schemas.microsoft.com/office/drawing/2014/main" id="{555ADC28-567C-4E68-A2A6-6BE2B745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form submit / redirect / flash</a:t>
            </a:r>
          </a:p>
        </p:txBody>
      </p:sp>
      <p:sp>
        <p:nvSpPr>
          <p:cNvPr id="22" name="api-mvc-b-dot-2">
            <a:extLst xmlns:a="http://schemas.openxmlformats.org/drawingml/2006/main">
              <a:ext uri="{FF2B5EF4-FFF2-40B4-BE49-F238E27FC236}">
                <a16:creationId xmlns:a16="http://schemas.microsoft.com/office/drawing/2014/main" id="{91B82BF4-55D4-407A-AC24-9CD866C4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38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23" name="api-mvc-b-2">
            <a:extLst xmlns:a="http://schemas.openxmlformats.org/drawingml/2006/main">
              <a:ext uri="{FF2B5EF4-FFF2-40B4-BE49-F238E27FC236}">
                <a16:creationId xmlns:a16="http://schemas.microsoft.com/office/drawing/2014/main" id="{FDBFA1F1-9310-4B2E-A514-51151C58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718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server-side page render</a:t>
            </a:r>
          </a:p>
        </p:txBody>
      </p:sp>
      <p:sp>
        <p:nvSpPr>
          <p:cNvPr id="24" name="api-mvc-b-dot-3">
            <a:extLst xmlns:a="http://schemas.openxmlformats.org/drawingml/2006/main">
              <a:ext uri="{FF2B5EF4-FFF2-40B4-BE49-F238E27FC236}">
                <a16:creationId xmlns:a16="http://schemas.microsoft.com/office/drawing/2014/main" id="{007D54DD-AB89-4CAE-B9AE-5E6DE199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95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25" name="api-mvc-b-3">
            <a:extLst xmlns:a="http://schemas.openxmlformats.org/drawingml/2006/main">
              <a:ext uri="{FF2B5EF4-FFF2-40B4-BE49-F238E27FC236}">
                <a16:creationId xmlns:a16="http://schemas.microsoft.com/office/drawing/2014/main" id="{DB6A2434-708A-4008-A474-CCB8E8FE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290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Thymeleaf ViewModel 구성</a:t>
            </a:r>
          </a:p>
        </p:txBody>
      </p:sp>
      <p:sp>
        <p:nvSpPr>
          <p:cNvPr id="26" name="api-mvc-b-dot-4">
            <a:extLst xmlns:a="http://schemas.openxmlformats.org/drawingml/2006/main">
              <a:ext uri="{FF2B5EF4-FFF2-40B4-BE49-F238E27FC236}">
                <a16:creationId xmlns:a16="http://schemas.microsoft.com/office/drawing/2014/main" id="{4AE7BFBB-759F-4D08-B473-B29442FC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27" name="api-mvc-b-4">
            <a:extLst xmlns:a="http://schemas.openxmlformats.org/drawingml/2006/main">
              <a:ext uri="{FF2B5EF4-FFF2-40B4-BE49-F238E27FC236}">
                <a16:creationId xmlns:a16="http://schemas.microsoft.com/office/drawing/2014/main" id="{D7ED289D-C860-4AF9-A7F3-B5621637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8625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REST와 business Service 공유</a:t>
            </a:r>
          </a:p>
        </p:txBody>
      </p:sp>
      <p:sp>
        <p:nvSpPr>
          <p:cNvPr id="28" name="api-rule">
            <a:extLst xmlns:a="http://schemas.openxmlformats.org/drawingml/2006/main">
              <a:ext uri="{FF2B5EF4-FFF2-40B4-BE49-F238E27FC236}">
                <a16:creationId xmlns:a16="http://schemas.microsoft.com/office/drawing/2014/main" id="{FBB75ED1-C75C-4E5F-B0E8-91AE6FE0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결정: OAuth login/connect는 `/oauth/**`, `/settings/social/**` MVC route가 담당한다. `/api/auth/oauth/**`는 skeleton 대상이 아니다.</a:t>
            </a:r>
          </a:p>
        </p:txBody>
      </p:sp>
      <p:sp>
        <p:nvSpPr>
          <p:cNvPr id="29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26E4A43D-C00E-4070-8A23-DE1AE11E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</p:sp>
      <p:sp>
        <p:nvSpPr>
          <p:cNvPr id="30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0C63FDCE-AA9E-48B3-9C64-BFBD3A3D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2026.06.17</a:t>
            </a:r>
          </a:p>
        </p:txBody>
      </p:sp>
      <p:sp>
        <p:nvSpPr>
          <p:cNvPr id="31" name="footer-right-8">
            <a:extLst xmlns:a="http://schemas.openxmlformats.org/drawingml/2006/main">
              <a:ext uri="{FF2B5EF4-FFF2-40B4-BE49-F238E27FC236}">
                <a16:creationId xmlns:a16="http://schemas.microsoft.com/office/drawing/2014/main" id="{70CEF7B8-B8BD-40B2-8F2C-005BC0E4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29318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80A430AC-4459-444B-AF5B-8DB1F5D0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274CFE-4F5C-4B61-A047-D15910E7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MVC 명세는 skeleton의 직접 입력이다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CB759C5-3D0C-46AF-9612-958DA825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route, view, controller, service, mapper 후보가 한 줄로 추적된다</a:t>
            </a:r>
          </a:p>
        </p:txBody>
      </p:sp>
      <p:sp>
        <p:nvSpPr>
          <p:cNvPr id="4" name="mvc-0">
            <a:extLst xmlns:a="http://schemas.openxmlformats.org/drawingml/2006/main">
              <a:ext uri="{FF2B5EF4-FFF2-40B4-BE49-F238E27FC236}">
                <a16:creationId xmlns:a16="http://schemas.microsoft.com/office/drawing/2014/main" id="{7D7D38F4-4588-47E4-88F2-4FFD1D21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514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</p:sp>
      <p:sp>
        <p:nvSpPr>
          <p:cNvPr id="5" name="mvc-h-0">
            <a:extLst xmlns:a="http://schemas.openxmlformats.org/drawingml/2006/main">
              <a:ext uri="{FF2B5EF4-FFF2-40B4-BE49-F238E27FC236}">
                <a16:creationId xmlns:a16="http://schemas.microsoft.com/office/drawing/2014/main" id="{7E286047-E5C0-4137-91B3-BC0234CF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2B8C8"/>
                </a:solidFill>
                <a:latin typeface="Malgun Gothic"/>
                <a:ea typeface="Malgun Gothic"/>
                <a:cs typeface="Malgun Gothic"/>
              </a:rPr>
              <a:t>View</a:t>
            </a:r>
          </a:p>
        </p:txBody>
      </p:sp>
      <p:sp>
        <p:nvSpPr>
          <p:cNvPr id="6" name="mvc-b-0">
            <a:extLst xmlns:a="http://schemas.openxmlformats.org/drawingml/2006/main">
              <a:ext uri="{FF2B5EF4-FFF2-40B4-BE49-F238E27FC236}">
                <a16:creationId xmlns:a16="http://schemas.microsoft.com/office/drawing/2014/main" id="{B49AA815-D9DE-4E67-B08A-C14181AF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764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templates/{domain}/{screen}.html</a:t>
            </a:r>
          </a:p>
          <a:p xmlns:a="http://schemas.openxmlformats.org/drawingml/2006/main">
            <a:pPr algn="l"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fragments/topbar, learning-console, admin-shell</a:t>
            </a:r>
          </a:p>
        </p:txBody>
      </p:sp>
      <p:sp>
        <p:nvSpPr>
          <p:cNvPr id="7" name="mvc-l-0">
            <a:extLst xmlns:a="http://schemas.openxmlformats.org/drawingml/2006/main">
              <a:ext uri="{FF2B5EF4-FFF2-40B4-BE49-F238E27FC236}">
                <a16:creationId xmlns:a16="http://schemas.microsoft.com/office/drawing/2014/main" id="{CDF8B2EA-EEE1-43A7-B4E2-62F8A74F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479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5563"/>
            </a:solidFill>
            <a:prstDash val="solid"/>
          </a:ln>
        </p:spPr>
      </p:sp>
      <p:sp>
        <p:nvSpPr>
          <p:cNvPr id="8" name="mvc-1">
            <a:extLst xmlns:a="http://schemas.openxmlformats.org/drawingml/2006/main">
              <a:ext uri="{FF2B5EF4-FFF2-40B4-BE49-F238E27FC236}">
                <a16:creationId xmlns:a16="http://schemas.microsoft.com/office/drawing/2014/main" id="{AA858C98-7AFE-48FD-A2E5-02654FC7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514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5FD49D"/>
            </a:solidFill>
            <a:prstDash val="solid"/>
          </a:ln>
        </p:spPr>
      </p:sp>
      <p:sp>
        <p:nvSpPr>
          <p:cNvPr id="9" name="mvc-h-1">
            <a:extLst xmlns:a="http://schemas.openxmlformats.org/drawingml/2006/main">
              <a:ext uri="{FF2B5EF4-FFF2-40B4-BE49-F238E27FC236}">
                <a16:creationId xmlns:a16="http://schemas.microsoft.com/office/drawing/2014/main" id="{9370A49F-3CA6-4E20-A198-F62C0C14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D49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FD49D"/>
                </a:solidFill>
                <a:latin typeface="Malgun Gothic"/>
                <a:ea typeface="Malgun Gothic"/>
                <a:cs typeface="Malgun Gothic"/>
              </a:rPr>
              <a:t>Controller</a:t>
            </a:r>
          </a:p>
        </p:txBody>
      </p:sp>
      <p:sp>
        <p:nvSpPr>
          <p:cNvPr id="10" name="mvc-b-1">
            <a:extLst xmlns:a="http://schemas.openxmlformats.org/drawingml/2006/main">
              <a:ext uri="{FF2B5EF4-FFF2-40B4-BE49-F238E27FC236}">
                <a16:creationId xmlns:a16="http://schemas.microsoft.com/office/drawing/2014/main" id="{607DE56F-80D3-4754-ABDC-B44AD9D8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@Controller: request binding, @Valid, BindingResult, Model, redirect</a:t>
            </a:r>
          </a:p>
        </p:txBody>
      </p:sp>
      <p:sp>
        <p:nvSpPr>
          <p:cNvPr id="11" name="mvc-l-1">
            <a:extLst xmlns:a="http://schemas.openxmlformats.org/drawingml/2006/main">
              <a:ext uri="{FF2B5EF4-FFF2-40B4-BE49-F238E27FC236}">
                <a16:creationId xmlns:a16="http://schemas.microsoft.com/office/drawing/2014/main" id="{7D6206A2-7A39-41EE-A19D-D794EDFD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623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5563"/>
            </a:solidFill>
            <a:prstDash val="solid"/>
          </a:ln>
        </p:spPr>
      </p:sp>
      <p:sp>
        <p:nvSpPr>
          <p:cNvPr id="12" name="mvc-2">
            <a:extLst xmlns:a="http://schemas.openxmlformats.org/drawingml/2006/main">
              <a:ext uri="{FF2B5EF4-FFF2-40B4-BE49-F238E27FC236}">
                <a16:creationId xmlns:a16="http://schemas.microsoft.com/office/drawing/2014/main" id="{EF4784BC-1269-41F1-8FD4-EA88AEB6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514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13" name="mvc-h-2">
            <a:extLst xmlns:a="http://schemas.openxmlformats.org/drawingml/2006/main">
              <a:ext uri="{FF2B5EF4-FFF2-40B4-BE49-F238E27FC236}">
                <a16:creationId xmlns:a16="http://schemas.microsoft.com/office/drawing/2014/main" id="{CE62152E-8817-490F-A3FF-18FA65CB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Service</a:t>
            </a:r>
          </a:p>
        </p:txBody>
      </p:sp>
      <p:sp>
        <p:nvSpPr>
          <p:cNvPr id="14" name="mvc-b-2">
            <a:extLst xmlns:a="http://schemas.openxmlformats.org/drawingml/2006/main">
              <a:ext uri="{FF2B5EF4-FFF2-40B4-BE49-F238E27FC236}">
                <a16:creationId xmlns:a16="http://schemas.microsoft.com/office/drawing/2014/main" id="{7250106B-806A-4349-B803-F226627F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05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business rule, transaction, idempotency, owner/admin guard</a:t>
            </a:r>
          </a:p>
        </p:txBody>
      </p:sp>
      <p:sp>
        <p:nvSpPr>
          <p:cNvPr id="15" name="mvc-l-2">
            <a:extLst xmlns:a="http://schemas.openxmlformats.org/drawingml/2006/main">
              <a:ext uri="{FF2B5EF4-FFF2-40B4-BE49-F238E27FC236}">
                <a16:creationId xmlns:a16="http://schemas.microsoft.com/office/drawing/2014/main" id="{C29A5B57-1B86-4654-8F96-87B50FD4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767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5563"/>
            </a:solidFill>
            <a:prstDash val="solid"/>
          </a:ln>
        </p:spPr>
      </p:sp>
      <p:sp>
        <p:nvSpPr>
          <p:cNvPr id="16" name="mvc-3">
            <a:extLst xmlns:a="http://schemas.openxmlformats.org/drawingml/2006/main">
              <a:ext uri="{FF2B5EF4-FFF2-40B4-BE49-F238E27FC236}">
                <a16:creationId xmlns:a16="http://schemas.microsoft.com/office/drawing/2014/main" id="{41B4D48E-F948-483F-BB01-63E52299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514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B21"/>
          </a:solidFill>
          <a:ln xmlns:a="http://schemas.openxmlformats.org/drawingml/2006/main" w="9525">
            <a:solidFill>
              <a:srgbClr val="8FE7EF"/>
            </a:solidFill>
            <a:prstDash val="solid"/>
          </a:ln>
        </p:spPr>
      </p:sp>
      <p:sp>
        <p:nvSpPr>
          <p:cNvPr id="17" name="mvc-h-3">
            <a:extLst xmlns:a="http://schemas.openxmlformats.org/drawingml/2006/main">
              <a:ext uri="{FF2B5EF4-FFF2-40B4-BE49-F238E27FC236}">
                <a16:creationId xmlns:a16="http://schemas.microsoft.com/office/drawing/2014/main" id="{2B115EF4-5183-4A62-8DD0-A43519A6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Mapper</a:t>
            </a:r>
          </a:p>
        </p:txBody>
      </p:sp>
      <p:sp>
        <p:nvSpPr>
          <p:cNvPr id="18" name="mvc-b-3">
            <a:extLst xmlns:a="http://schemas.openxmlformats.org/drawingml/2006/main">
              <a:ext uri="{FF2B5EF4-FFF2-40B4-BE49-F238E27FC236}">
                <a16:creationId xmlns:a16="http://schemas.microsoft.com/office/drawing/2014/main" id="{7AADFA9E-2717-4B15-8732-E1B16C9C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19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MyBatis interface + XML id</a:t>
            </a:r>
          </a:p>
          <a:p xmlns:a="http://schemas.openxmlformats.org/drawingml/2006/main">
            <a:pPr algn="l">
              <a:def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DB v1.2 table/entity 연결</a:t>
            </a:r>
          </a:p>
        </p:txBody>
      </p:sp>
      <p:sp>
        <p:nvSpPr>
          <p:cNvPr id="19" name="pkg">
            <a:extLst xmlns:a="http://schemas.openxmlformats.org/drawingml/2006/main">
              <a:ext uri="{FF2B5EF4-FFF2-40B4-BE49-F238E27FC236}">
                <a16:creationId xmlns:a16="http://schemas.microsoft.com/office/drawing/2014/main" id="{E7A7C148-7AB5-46D5-820C-8AE36ECB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81150"/>
            <a:ext cx="4095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20" name="pkg-title">
            <a:extLst xmlns:a="http://schemas.openxmlformats.org/drawingml/2006/main">
              <a:ext uri="{FF2B5EF4-FFF2-40B4-BE49-F238E27FC236}">
                <a16:creationId xmlns:a16="http://schemas.microsoft.com/office/drawing/2014/main" id="{9FAC6D06-ADD0-499C-AA58-9D56891C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66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Canonical packages</a:t>
            </a:r>
          </a:p>
        </p:txBody>
      </p:sp>
      <p:sp>
        <p:nvSpPr>
          <p:cNvPr id="21" name="pkg-common">
            <a:extLst xmlns:a="http://schemas.openxmlformats.org/drawingml/2006/main">
              <a:ext uri="{FF2B5EF4-FFF2-40B4-BE49-F238E27FC236}">
                <a16:creationId xmlns:a16="http://schemas.microsoft.com/office/drawing/2014/main" id="{FD49F87B-63B2-4A4D-BDEA-9C01316A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</p:sp>
      <p:sp>
        <p:nvSpPr>
          <p:cNvPr id="22" name="pkg-t-common">
            <a:extLst xmlns:a="http://schemas.openxmlformats.org/drawingml/2006/main">
              <a:ext uri="{FF2B5EF4-FFF2-40B4-BE49-F238E27FC236}">
                <a16:creationId xmlns:a16="http://schemas.microsoft.com/office/drawing/2014/main" id="{27414507-28C7-430D-8592-8A98ACC1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03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common</a:t>
            </a:r>
          </a:p>
        </p:txBody>
      </p:sp>
      <p:sp>
        <p:nvSpPr>
          <p:cNvPr id="23" name="pkg-config">
            <a:extLst xmlns:a="http://schemas.openxmlformats.org/drawingml/2006/main">
              <a:ext uri="{FF2B5EF4-FFF2-40B4-BE49-F238E27FC236}">
                <a16:creationId xmlns:a16="http://schemas.microsoft.com/office/drawing/2014/main" id="{72A609D5-10E9-42E8-933A-D1C8429A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</p:sp>
      <p:sp>
        <p:nvSpPr>
          <p:cNvPr id="24" name="pkg-t-config">
            <a:extLst xmlns:a="http://schemas.openxmlformats.org/drawingml/2006/main">
              <a:ext uri="{FF2B5EF4-FFF2-40B4-BE49-F238E27FC236}">
                <a16:creationId xmlns:a16="http://schemas.microsoft.com/office/drawing/2014/main" id="{F6FE7D20-D2AB-4997-8860-996D861C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config</a:t>
            </a:r>
          </a:p>
        </p:txBody>
      </p:sp>
      <p:sp>
        <p:nvSpPr>
          <p:cNvPr id="25" name="pkg-security">
            <a:extLst xmlns:a="http://schemas.openxmlformats.org/drawingml/2006/main">
              <a:ext uri="{FF2B5EF4-FFF2-40B4-BE49-F238E27FC236}">
                <a16:creationId xmlns:a16="http://schemas.microsoft.com/office/drawing/2014/main" id="{73D2BE81-733A-4D40-B8E9-C4EF598C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</p:sp>
      <p:sp>
        <p:nvSpPr>
          <p:cNvPr id="26" name="pkg-t-security">
            <a:extLst xmlns:a="http://schemas.openxmlformats.org/drawingml/2006/main">
              <a:ext uri="{FF2B5EF4-FFF2-40B4-BE49-F238E27FC236}">
                <a16:creationId xmlns:a16="http://schemas.microsoft.com/office/drawing/2014/main" id="{7FEFA7F9-2128-4199-BE27-788041BD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622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security</a:t>
            </a:r>
          </a:p>
        </p:txBody>
      </p:sp>
      <p:sp>
        <p:nvSpPr>
          <p:cNvPr id="27" name="pkg-auth">
            <a:extLst xmlns:a="http://schemas.openxmlformats.org/drawingml/2006/main">
              <a:ext uri="{FF2B5EF4-FFF2-40B4-BE49-F238E27FC236}">
                <a16:creationId xmlns:a16="http://schemas.microsoft.com/office/drawing/2014/main" id="{7998B8CB-83ED-47B6-9D79-2E98A7E2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</p:sp>
      <p:sp>
        <p:nvSpPr>
          <p:cNvPr id="28" name="pkg-t-auth">
            <a:extLst xmlns:a="http://schemas.openxmlformats.org/drawingml/2006/main">
              <a:ext uri="{FF2B5EF4-FFF2-40B4-BE49-F238E27FC236}">
                <a16:creationId xmlns:a16="http://schemas.microsoft.com/office/drawing/2014/main" id="{B1F8DC6E-9C3E-4558-B9D8-DE349CAB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622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auth</a:t>
            </a:r>
          </a:p>
        </p:txBody>
      </p:sp>
      <p:sp>
        <p:nvSpPr>
          <p:cNvPr id="29" name="pkg-user">
            <a:extLst xmlns:a="http://schemas.openxmlformats.org/drawingml/2006/main">
              <a:ext uri="{FF2B5EF4-FFF2-40B4-BE49-F238E27FC236}">
                <a16:creationId xmlns:a16="http://schemas.microsoft.com/office/drawing/2014/main" id="{301E27D2-A844-43FE-868D-8F6DF3BE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8610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</p:sp>
      <p:sp>
        <p:nvSpPr>
          <p:cNvPr id="30" name="pkg-t-user">
            <a:extLst xmlns:a="http://schemas.openxmlformats.org/drawingml/2006/main">
              <a:ext uri="{FF2B5EF4-FFF2-40B4-BE49-F238E27FC236}">
                <a16:creationId xmlns:a16="http://schemas.microsoft.com/office/drawing/2014/main" id="{875A2221-BFA2-4A39-A0CA-0D20718F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242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user</a:t>
            </a:r>
          </a:p>
        </p:txBody>
      </p:sp>
      <p:sp>
        <p:nvSpPr>
          <p:cNvPr id="31" name="pkg-learning">
            <a:extLst xmlns:a="http://schemas.openxmlformats.org/drawingml/2006/main">
              <a:ext uri="{FF2B5EF4-FFF2-40B4-BE49-F238E27FC236}">
                <a16:creationId xmlns:a16="http://schemas.microsoft.com/office/drawing/2014/main" id="{DB8909A6-C05B-4E49-A852-93500248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</p:sp>
      <p:sp>
        <p:nvSpPr>
          <p:cNvPr id="32" name="pkg-t-learning">
            <a:extLst xmlns:a="http://schemas.openxmlformats.org/drawingml/2006/main">
              <a:ext uri="{FF2B5EF4-FFF2-40B4-BE49-F238E27FC236}">
                <a16:creationId xmlns:a16="http://schemas.microsoft.com/office/drawing/2014/main" id="{3F8716F7-A589-47C6-A086-624A6925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242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learning</a:t>
            </a:r>
          </a:p>
        </p:txBody>
      </p:sp>
      <p:sp>
        <p:nvSpPr>
          <p:cNvPr id="33" name="pkg-practice">
            <a:extLst xmlns:a="http://schemas.openxmlformats.org/drawingml/2006/main">
              <a:ext uri="{FF2B5EF4-FFF2-40B4-BE49-F238E27FC236}">
                <a16:creationId xmlns:a16="http://schemas.microsoft.com/office/drawing/2014/main" id="{78CA468E-8D82-4BA1-BFC0-220B3DC3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4805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</p:sp>
      <p:sp>
        <p:nvSpPr>
          <p:cNvPr id="34" name="pkg-t-practice">
            <a:extLst xmlns:a="http://schemas.openxmlformats.org/drawingml/2006/main">
              <a:ext uri="{FF2B5EF4-FFF2-40B4-BE49-F238E27FC236}">
                <a16:creationId xmlns:a16="http://schemas.microsoft.com/office/drawing/2014/main" id="{D7EF20E1-0080-41C1-BA58-DD88E4D3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86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practice</a:t>
            </a:r>
          </a:p>
        </p:txBody>
      </p:sp>
      <p:sp>
        <p:nvSpPr>
          <p:cNvPr id="35" name="pkg-exam">
            <a:extLst xmlns:a="http://schemas.openxmlformats.org/drawingml/2006/main">
              <a:ext uri="{FF2B5EF4-FFF2-40B4-BE49-F238E27FC236}">
                <a16:creationId xmlns:a16="http://schemas.microsoft.com/office/drawing/2014/main" id="{65FC0F40-C664-462A-937A-FC5477D1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4805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</p:sp>
      <p:sp>
        <p:nvSpPr>
          <p:cNvPr id="36" name="pkg-t-exam">
            <a:extLst xmlns:a="http://schemas.openxmlformats.org/drawingml/2006/main">
              <a:ext uri="{FF2B5EF4-FFF2-40B4-BE49-F238E27FC236}">
                <a16:creationId xmlns:a16="http://schemas.microsoft.com/office/drawing/2014/main" id="{CAD891D8-57DB-4871-B874-C2BEB90F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86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exam</a:t>
            </a:r>
          </a:p>
        </p:txBody>
      </p:sp>
      <p:sp>
        <p:nvSpPr>
          <p:cNvPr id="37" name="pkg-analysis">
            <a:extLst xmlns:a="http://schemas.openxmlformats.org/drawingml/2006/main">
              <a:ext uri="{FF2B5EF4-FFF2-40B4-BE49-F238E27FC236}">
                <a16:creationId xmlns:a16="http://schemas.microsoft.com/office/drawing/2014/main" id="{5AE170BC-439F-48E0-BA77-BB830987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1000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</p:sp>
      <p:sp>
        <p:nvSpPr>
          <p:cNvPr id="38" name="pkg-t-analysis">
            <a:extLst xmlns:a="http://schemas.openxmlformats.org/drawingml/2006/main">
              <a:ext uri="{FF2B5EF4-FFF2-40B4-BE49-F238E27FC236}">
                <a16:creationId xmlns:a16="http://schemas.microsoft.com/office/drawing/2014/main" id="{4B5704DA-82B8-41F1-9991-FC5CB009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analysis</a:t>
            </a:r>
          </a:p>
        </p:txBody>
      </p:sp>
      <p:sp>
        <p:nvSpPr>
          <p:cNvPr id="39" name="pkg-community">
            <a:extLst xmlns:a="http://schemas.openxmlformats.org/drawingml/2006/main">
              <a:ext uri="{FF2B5EF4-FFF2-40B4-BE49-F238E27FC236}">
                <a16:creationId xmlns:a16="http://schemas.microsoft.com/office/drawing/2014/main" id="{842AE15C-B4BF-4449-B314-BE097605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1000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</p:sp>
      <p:sp>
        <p:nvSpPr>
          <p:cNvPr id="40" name="pkg-t-community">
            <a:extLst xmlns:a="http://schemas.openxmlformats.org/drawingml/2006/main">
              <a:ext uri="{FF2B5EF4-FFF2-40B4-BE49-F238E27FC236}">
                <a16:creationId xmlns:a16="http://schemas.microsoft.com/office/drawing/2014/main" id="{140F0C1E-37EB-4647-96F7-A65D5DEC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481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community</a:t>
            </a:r>
          </a:p>
        </p:txBody>
      </p:sp>
      <p:sp>
        <p:nvSpPr>
          <p:cNvPr id="41" name="pkg-payment">
            <a:extLst xmlns:a="http://schemas.openxmlformats.org/drawingml/2006/main">
              <a:ext uri="{FF2B5EF4-FFF2-40B4-BE49-F238E27FC236}">
                <a16:creationId xmlns:a16="http://schemas.microsoft.com/office/drawing/2014/main" id="{51BBBFCC-4C6A-4FCB-BA7C-49F92041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7195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</p:sp>
      <p:sp>
        <p:nvSpPr>
          <p:cNvPr id="42" name="pkg-t-payment">
            <a:extLst xmlns:a="http://schemas.openxmlformats.org/drawingml/2006/main">
              <a:ext uri="{FF2B5EF4-FFF2-40B4-BE49-F238E27FC236}">
                <a16:creationId xmlns:a16="http://schemas.microsoft.com/office/drawing/2014/main" id="{07645835-D850-4177-8AA1-2E0877B6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payment</a:t>
            </a:r>
          </a:p>
        </p:txBody>
      </p:sp>
      <p:sp>
        <p:nvSpPr>
          <p:cNvPr id="43" name="pkg-ranking">
            <a:extLst xmlns:a="http://schemas.openxmlformats.org/drawingml/2006/main">
              <a:ext uri="{FF2B5EF4-FFF2-40B4-BE49-F238E27FC236}">
                <a16:creationId xmlns:a16="http://schemas.microsoft.com/office/drawing/2014/main" id="{9680E806-CFFB-48A5-8E63-128E2D85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7195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</p:sp>
      <p:sp>
        <p:nvSpPr>
          <p:cNvPr id="44" name="pkg-t-ranking">
            <a:extLst xmlns:a="http://schemas.openxmlformats.org/drawingml/2006/main">
              <a:ext uri="{FF2B5EF4-FFF2-40B4-BE49-F238E27FC236}">
                <a16:creationId xmlns:a16="http://schemas.microsoft.com/office/drawing/2014/main" id="{1C2D3AB6-1150-43EB-BECC-CC21DB9B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00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ranking</a:t>
            </a:r>
          </a:p>
        </p:txBody>
      </p:sp>
      <p:sp>
        <p:nvSpPr>
          <p:cNvPr id="45" name="pkg-admin">
            <a:extLst xmlns:a="http://schemas.openxmlformats.org/drawingml/2006/main">
              <a:ext uri="{FF2B5EF4-FFF2-40B4-BE49-F238E27FC236}">
                <a16:creationId xmlns:a16="http://schemas.microsoft.com/office/drawing/2014/main" id="{220AED40-405B-4D29-A26E-BF9D784E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3390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</p:sp>
      <p:sp>
        <p:nvSpPr>
          <p:cNvPr id="46" name="pkg-t-admin">
            <a:extLst xmlns:a="http://schemas.openxmlformats.org/drawingml/2006/main">
              <a:ext uri="{FF2B5EF4-FFF2-40B4-BE49-F238E27FC236}">
                <a16:creationId xmlns:a16="http://schemas.microsoft.com/office/drawing/2014/main" id="{047D9710-7B2D-4188-8E59-F367BDE8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720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admin</a:t>
            </a:r>
          </a:p>
        </p:txBody>
      </p:sp>
      <p:sp>
        <p:nvSpPr>
          <p:cNvPr id="47" name="pkg-content">
            <a:extLst xmlns:a="http://schemas.openxmlformats.org/drawingml/2006/main">
              <a:ext uri="{FF2B5EF4-FFF2-40B4-BE49-F238E27FC236}">
                <a16:creationId xmlns:a16="http://schemas.microsoft.com/office/drawing/2014/main" id="{874A95D9-4944-4439-A553-23F16E4D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33900"/>
            <a:ext cx="15240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304450"/>
            </a:solidFill>
            <a:prstDash val="solid"/>
          </a:ln>
        </p:spPr>
      </p:sp>
      <p:sp>
        <p:nvSpPr>
          <p:cNvPr id="48" name="pkg-t-content">
            <a:extLst xmlns:a="http://schemas.openxmlformats.org/drawingml/2006/main">
              <a:ext uri="{FF2B5EF4-FFF2-40B4-BE49-F238E27FC236}">
                <a16:creationId xmlns:a16="http://schemas.microsoft.com/office/drawing/2014/main" id="{66D30871-73D4-42F1-A549-2573400F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720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content</a:t>
            </a:r>
          </a:p>
        </p:txBody>
      </p:sp>
      <p:sp>
        <p:nvSpPr>
          <p:cNvPr id="49" name="pkg-note">
            <a:extLst xmlns:a="http://schemas.openxmlformats.org/drawingml/2006/main">
              <a:ext uri="{FF2B5EF4-FFF2-40B4-BE49-F238E27FC236}">
                <a16:creationId xmlns:a16="http://schemas.microsoft.com/office/drawing/2014/main" id="{7C174F2E-1FA2-4869-9C91-E4B93DA5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578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7A7A"/>
                </a:solidFill>
                <a:latin typeface="Malgun Gothic"/>
                <a:ea typeface="Malgun Gothic"/>
                <a:cs typeface="Malgun Gothic"/>
              </a:rPr>
              <a:t>금지: `course`, `quiz`, top-level `ai`, `ROLE_PREMIUM`</a:t>
            </a:r>
          </a:p>
        </p:txBody>
      </p:sp>
      <p:sp>
        <p:nvSpPr>
          <p:cNvPr id="50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9ECEC928-E745-46B2-94A1-5CC65674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</p:sp>
      <p:sp>
        <p:nvSpPr>
          <p:cNvPr id="51" name="footer-left-9">
            <a:extLst xmlns:a="http://schemas.openxmlformats.org/drawingml/2006/main">
              <a:ext uri="{FF2B5EF4-FFF2-40B4-BE49-F238E27FC236}">
                <a16:creationId xmlns:a16="http://schemas.microsoft.com/office/drawing/2014/main" id="{A8180B7C-2615-43ED-9B56-82CCED13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2026.06.17</a:t>
            </a:r>
          </a:p>
        </p:txBody>
      </p:sp>
      <p:sp>
        <p:nvSpPr>
          <p:cNvPr id="52" name="footer-right-9">
            <a:extLst xmlns:a="http://schemas.openxmlformats.org/drawingml/2006/main">
              <a:ext uri="{FF2B5EF4-FFF2-40B4-BE49-F238E27FC236}">
                <a16:creationId xmlns:a16="http://schemas.microsoft.com/office/drawing/2014/main" id="{0D1B76BF-9E62-490B-A837-B05BE133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106706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9BCC122-164A-4738-A9B8-52B9E0DB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95B759-3618-464A-BFEF-4C8FA785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Skeleton 작성 기준은 이미 닫혔다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055F7D8-DE51-4619-902F-9D28C3E2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복잡한 business logic보다 route render와 signature를 먼저 만든다</a:t>
            </a:r>
          </a:p>
        </p:txBody>
      </p:sp>
      <p:sp>
        <p:nvSpPr>
          <p:cNvPr id="4" name="hand-0-card">
            <a:extLst xmlns:a="http://schemas.openxmlformats.org/drawingml/2006/main">
              <a:ext uri="{FF2B5EF4-FFF2-40B4-BE49-F238E27FC236}">
                <a16:creationId xmlns:a16="http://schemas.microsoft.com/office/drawing/2014/main" id="{CD8DE450-4C72-4034-AC56-75D7EBB3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4629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5" name="hand-0-accent">
            <a:extLst xmlns:a="http://schemas.openxmlformats.org/drawingml/2006/main">
              <a:ext uri="{FF2B5EF4-FFF2-40B4-BE49-F238E27FC236}">
                <a16:creationId xmlns:a16="http://schemas.microsoft.com/office/drawing/2014/main" id="{E5247FC5-55F1-4BBF-AC54-B3AE3E27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6" name="hand-0-head">
            <a:extLst xmlns:a="http://schemas.openxmlformats.org/drawingml/2006/main">
              <a:ext uri="{FF2B5EF4-FFF2-40B4-BE49-F238E27FC236}">
                <a16:creationId xmlns:a16="http://schemas.microsoft.com/office/drawing/2014/main" id="{FC7B5C6B-1427-42A6-BD98-87B7AC4E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33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생성 대상</a:t>
            </a:r>
          </a:p>
        </p:txBody>
      </p:sp>
      <p:sp>
        <p:nvSpPr>
          <p:cNvPr id="7" name="hand-0-body">
            <a:extLst xmlns:a="http://schemas.openxmlformats.org/drawingml/2006/main">
              <a:ext uri="{FF2B5EF4-FFF2-40B4-BE49-F238E27FC236}">
                <a16:creationId xmlns:a16="http://schemas.microsoft.com/office/drawing/2014/main" id="{E0458274-45AB-4C55-AF07-FC7DB5F4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574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Controller method, Service method, Mapper/XML id, Form/ViewModel, Thymeleaf template</a:t>
            </a:r>
          </a:p>
        </p:txBody>
      </p:sp>
      <p:sp>
        <p:nvSpPr>
          <p:cNvPr id="8" name="hand-1-card">
            <a:extLst xmlns:a="http://schemas.openxmlformats.org/drawingml/2006/main">
              <a:ext uri="{FF2B5EF4-FFF2-40B4-BE49-F238E27FC236}">
                <a16:creationId xmlns:a16="http://schemas.microsoft.com/office/drawing/2014/main" id="{80599E4A-7F17-4FA9-A4BF-508CD57A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81150"/>
            <a:ext cx="4629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9" name="hand-1-accent">
            <a:extLst xmlns:a="http://schemas.openxmlformats.org/drawingml/2006/main">
              <a:ext uri="{FF2B5EF4-FFF2-40B4-BE49-F238E27FC236}">
                <a16:creationId xmlns:a16="http://schemas.microsoft.com/office/drawing/2014/main" id="{47A21074-4DF0-402A-AE10-4376FB40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81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49D"/>
          </a:solidFill>
          <a:ln xmlns:a="http://schemas.openxmlformats.org/drawingml/2006/main" w="0">
            <a:solidFill>
              <a:srgbClr val="5FD49D"/>
            </a:solidFill>
            <a:prstDash val="solid"/>
          </a:ln>
        </p:spPr>
      </p:sp>
      <p:sp>
        <p:nvSpPr>
          <p:cNvPr id="10" name="hand-1-head">
            <a:extLst xmlns:a="http://schemas.openxmlformats.org/drawingml/2006/main">
              <a:ext uri="{FF2B5EF4-FFF2-40B4-BE49-F238E27FC236}">
                <a16:creationId xmlns:a16="http://schemas.microsoft.com/office/drawing/2014/main" id="{10002D5F-7271-4FFB-B973-5184973E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33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정적 구조</a:t>
            </a:r>
          </a:p>
        </p:txBody>
      </p:sp>
      <p:sp>
        <p:nvSpPr>
          <p:cNvPr id="11" name="hand-1-body">
            <a:extLst xmlns:a="http://schemas.openxmlformats.org/drawingml/2006/main">
              <a:ext uri="{FF2B5EF4-FFF2-40B4-BE49-F238E27FC236}">
                <a16:creationId xmlns:a16="http://schemas.microsoft.com/office/drawing/2014/main" id="{ADD46B11-BDCC-4C0A-8DC2-C345CCF3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574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공통 CSS와 화면별 CSS 분리. fragment와 static asset은 reusable boundary 기준</a:t>
            </a:r>
          </a:p>
        </p:txBody>
      </p:sp>
      <p:sp>
        <p:nvSpPr>
          <p:cNvPr id="12" name="hand-2-card">
            <a:extLst xmlns:a="http://schemas.openxmlformats.org/drawingml/2006/main">
              <a:ext uri="{FF2B5EF4-FFF2-40B4-BE49-F238E27FC236}">
                <a16:creationId xmlns:a16="http://schemas.microsoft.com/office/drawing/2014/main" id="{B56FA001-CCD3-4B7C-A3E5-6CC63844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629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13" name="hand-2-accent">
            <a:extLst xmlns:a="http://schemas.openxmlformats.org/drawingml/2006/main">
              <a:ext uri="{FF2B5EF4-FFF2-40B4-BE49-F238E27FC236}">
                <a16:creationId xmlns:a16="http://schemas.microsoft.com/office/drawing/2014/main" id="{14955CED-2D77-4D01-AD82-D3D97228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14" name="hand-2-head">
            <a:extLst xmlns:a="http://schemas.openxmlformats.org/drawingml/2006/main">
              <a:ext uri="{FF2B5EF4-FFF2-40B4-BE49-F238E27FC236}">
                <a16:creationId xmlns:a16="http://schemas.microsoft.com/office/drawing/2014/main" id="{BE3A3122-63C2-4D9B-94B7-6D970B68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검증 기준</a:t>
            </a:r>
          </a:p>
        </p:txBody>
      </p:sp>
      <p:sp>
        <p:nvSpPr>
          <p:cNvPr id="15" name="hand-2-body">
            <a:extLst xmlns:a="http://schemas.openxmlformats.org/drawingml/2006/main">
              <a:ext uri="{FF2B5EF4-FFF2-40B4-BE49-F238E27FC236}">
                <a16:creationId xmlns:a16="http://schemas.microsoft.com/office/drawing/2014/main" id="{34525A84-4238-42CE-BF0D-3431C942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40개 사용자/관리자 SR route, auth/redirect/error state, DTO/Mapper trace</a:t>
            </a:r>
          </a:p>
        </p:txBody>
      </p:sp>
      <p:sp>
        <p:nvSpPr>
          <p:cNvPr id="16" name="hand-3-card">
            <a:extLst xmlns:a="http://schemas.openxmlformats.org/drawingml/2006/main">
              <a:ext uri="{FF2B5EF4-FFF2-40B4-BE49-F238E27FC236}">
                <a16:creationId xmlns:a16="http://schemas.microsoft.com/office/drawing/2014/main" id="{19DE7E67-CB76-4579-93AD-37F64316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4629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A1D23"/>
          </a:solidFill>
          <a:ln xmlns:a="http://schemas.openxmlformats.org/drawingml/2006/main" w="9525">
            <a:solidFill>
              <a:srgbClr val="303844"/>
            </a:solidFill>
            <a:prstDash val="solid"/>
          </a:ln>
        </p:spPr>
      </p:sp>
      <p:sp>
        <p:nvSpPr>
          <p:cNvPr id="17" name="hand-3-accent">
            <a:extLst xmlns:a="http://schemas.openxmlformats.org/drawingml/2006/main">
              <a:ext uri="{FF2B5EF4-FFF2-40B4-BE49-F238E27FC236}">
                <a16:creationId xmlns:a16="http://schemas.microsoft.com/office/drawing/2014/main" id="{2E81A83D-7F34-4479-BC14-35AF4E26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FF7A7A"/>
            </a:solidFill>
            <a:prstDash val="solid"/>
          </a:ln>
        </p:spPr>
      </p:sp>
      <p:sp>
        <p:nvSpPr>
          <p:cNvPr id="18" name="hand-3-head">
            <a:extLst xmlns:a="http://schemas.openxmlformats.org/drawingml/2006/main">
              <a:ext uri="{FF2B5EF4-FFF2-40B4-BE49-F238E27FC236}">
                <a16:creationId xmlns:a16="http://schemas.microsoft.com/office/drawing/2014/main" id="{122062B8-D4F2-469E-9CDC-37150F5D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813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제외 대상</a:t>
            </a:r>
          </a:p>
        </p:txBody>
      </p:sp>
      <p:sp>
        <p:nvSpPr>
          <p:cNvPr id="19" name="hand-3-body">
            <a:extLst xmlns:a="http://schemas.openxmlformats.org/drawingml/2006/main">
              <a:ext uri="{FF2B5EF4-FFF2-40B4-BE49-F238E27FC236}">
                <a16:creationId xmlns:a16="http://schemas.microsoft.com/office/drawing/2014/main" id="{26D89C43-84CC-4602-AFBF-101F88C9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052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`index.html`, `screens/samples/*`, `/api/auth/oauth/**`, 실제 PG, top-level ai package</a:t>
            </a:r>
          </a:p>
        </p:txBody>
      </p:sp>
      <p:sp>
        <p:nvSpPr>
          <p:cNvPr id="20" name="next">
            <a:extLst xmlns:a="http://schemas.openxmlformats.org/drawingml/2006/main">
              <a:ext uri="{FF2B5EF4-FFF2-40B4-BE49-F238E27FC236}">
                <a16:creationId xmlns:a16="http://schemas.microsoft.com/office/drawing/2014/main" id="{9ADE68D0-11FE-4768-92C4-50D033B9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4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61B"/>
          </a:solidFill>
          <a:ln xmlns:a="http://schemas.openxmlformats.org/drawingml/2006/main" w="9525">
            <a:solidFill>
              <a:srgbClr val="22B8C8"/>
            </a:solidFill>
            <a:prstDash val="solid"/>
          </a:ln>
        </p:spPr>
      </p:sp>
      <p:sp>
        <p:nvSpPr>
          <p:cNvPr id="21" name="next-h">
            <a:extLst xmlns:a="http://schemas.openxmlformats.org/drawingml/2006/main">
              <a:ext uri="{FF2B5EF4-FFF2-40B4-BE49-F238E27FC236}">
                <a16:creationId xmlns:a16="http://schemas.microsoft.com/office/drawing/2014/main" id="{D3E7E90E-5171-4BB2-B674-AAC499C9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FE7EF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22" name="next-b">
            <a:extLst xmlns:a="http://schemas.openxmlformats.org/drawingml/2006/main">
              <a:ext uri="{FF2B5EF4-FFF2-40B4-BE49-F238E27FC236}">
                <a16:creationId xmlns:a16="http://schemas.microsoft.com/office/drawing/2014/main" id="{838FD7EE-A542-4FAB-ABEA-C9DBCA61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33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0DC"/>
                </a:solidFill>
                <a:latin typeface="Malgun Gothic"/>
                <a:ea typeface="Malgun Gothic"/>
                <a:cs typeface="Malgun Gothic"/>
              </a:rPr>
              <a:t>Spring MVC/MyBatis skeleton을 만들고, route render → build → Controller-Service-Mapper signature → template/static 연결 순서로 검증한다.</a:t>
            </a:r>
          </a:p>
        </p:txBody>
      </p:sp>
      <p:sp>
        <p:nvSpPr>
          <p:cNvPr id="23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98E8FCB5-08B1-4299-9DA6-9F07D38E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</p:sp>
      <p:sp>
        <p:nvSpPr>
          <p:cNvPr id="24" name="footer-left-10">
            <a:extLst xmlns:a="http://schemas.openxmlformats.org/drawingml/2006/main">
              <a:ext uri="{FF2B5EF4-FFF2-40B4-BE49-F238E27FC236}">
                <a16:creationId xmlns:a16="http://schemas.microsoft.com/office/drawing/2014/main" id="{BD9BD848-5AA4-4012-8F3D-27D2F7CF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2026.06.17</a:t>
            </a:r>
          </a:p>
        </p:txBody>
      </p:sp>
      <p:sp>
        <p:nvSpPr>
          <p:cNvPr id="25" name="footer-right-10">
            <a:extLst xmlns:a="http://schemas.openxmlformats.org/drawingml/2006/main">
              <a:ext uri="{FF2B5EF4-FFF2-40B4-BE49-F238E27FC236}">
                <a16:creationId xmlns:a16="http://schemas.microsoft.com/office/drawing/2014/main" id="{42D97E30-5BEF-47E6-8931-6917E6FD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37581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E19A3E4-55B1-4823-8FF7-99239C5F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8"/>
          </a:solidFill>
          <a:ln xmlns:a="http://schemas.openxmlformats.org/drawingml/2006/main" w="0">
            <a:solidFill>
              <a:srgbClr val="22B8C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421C50A-9460-476A-B1EF-A854F666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사용한 기준 문서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D4D1765-7816-4675-A40E-9B8EB9CA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발표 내용은 아래 Notion 문서 버전에서만 가져왔다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76300" y="1504950"/>
          <a:ext xmlns:a="http://schemas.openxmlformats.org/drawingml/2006/main" cx="10096500" cy="3733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365500"/>
                <a:gridCol w="3365500"/>
                <a:gridCol w="3365500"/>
              </a:tblGrid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7F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</a:t>
                      </a:r>
                    </a:p>
                  </a:txBody>
                  <a:tcPr marL="91440" marR="91440" marT="45720" marB="45720">
                    <a:solidFill>
                      <a:srgbClr val="17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7F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91440" marR="91440" marT="45720" marB="45720">
                    <a:solidFill>
                      <a:srgbClr val="17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4F7F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발표에서 쓴 역할</a:t>
                      </a:r>
                    </a:p>
                  </a:txBody>
                  <a:tcPr marL="91440" marR="91440" marT="45720" marB="45720">
                    <a:solidFill>
                      <a:srgbClr val="172F35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기획서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목적, MVP, AI 활용 범위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 명세서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FR/NFR/SR/DR/API ID 원천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Business Rule, AC, trace 기준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화면별 기능 / 데이터 매핑표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action-데이터-API-MVC 연결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 명세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 tables, transaction, seed/status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REST API 명세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 API contract, endpoint group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MVC 명세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C7D0D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route, controller, service, mapper skeleton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2E3D7CC-F8DD-4748-80D8-D949E794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9AA6B2"/>
                </a:solidFill>
                <a:latin typeface="Malgun Gothic"/>
                <a:ea typeface="Malgun Gothic"/>
                <a:cs typeface="Malgun Gothic"/>
              </a:rPr>
              <a:t>외부 이미지/로고는 사용하지 않았고, 모든 도형·표·차트는 editable object로 생성했다.</a:t>
            </a:r>
          </a:p>
        </p:txBody>
      </p:sp>
      <p:sp>
        <p:nvSpPr>
          <p:cNvPr id="6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2E396587-7EB0-4CB8-BE69-4A0CD4B0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340"/>
            </a:solidFill>
            <a:prstDash val="solid"/>
          </a:ln>
        </p:spPr>
      </p:sp>
      <p:sp>
        <p:nvSpPr>
          <p:cNvPr id="7" name="footer-left-11">
            <a:extLst xmlns:a="http://schemas.openxmlformats.org/drawingml/2006/main">
              <a:ext uri="{FF2B5EF4-FFF2-40B4-BE49-F238E27FC236}">
                <a16:creationId xmlns:a16="http://schemas.microsoft.com/office/drawing/2014/main" id="{DE46D914-7837-4C9B-AD82-36538CE3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Knowva planning deck | 2026.06.17</a:t>
            </a:r>
          </a:p>
        </p:txBody>
      </p:sp>
      <p:sp>
        <p:nvSpPr>
          <p:cNvPr id="8" name="footer-right-11">
            <a:extLst xmlns:a="http://schemas.openxmlformats.org/drawingml/2006/main">
              <a:ext uri="{FF2B5EF4-FFF2-40B4-BE49-F238E27FC236}">
                <a16:creationId xmlns:a16="http://schemas.microsoft.com/office/drawing/2014/main" id="{F289F311-44CB-4A11-99AE-CD5B0BF5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78391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42385672"/>
      </p:ext>
    </p:extLst>
  </p:cSld>
</p:sld>
</file>

<file path=ppt/theme/theme1.xml><?xml version="1.0" encoding="utf-8"?>
<a:theme xmlns:a="http://schemas.openxmlformats.org/drawingml/2006/main" name="ChatGPT">
  <a:themeElements>
    <a:clrScheme name="Knowva Charcoal">
      <a:dk1>
        <a:srgbClr val="000000"/>
      </a:dk1>
      <a:lt1>
        <a:srgbClr val="FFFFFF"/>
      </a:lt1>
      <a:dk2>
        <a:srgbClr val="15171C"/>
      </a:dk2>
      <a:lt2>
        <a:srgbClr val="DCE4EE"/>
      </a:lt2>
      <a:accent1>
        <a:srgbClr val="22B8C8"/>
      </a:accent1>
      <a:accent2>
        <a:srgbClr val="F4C95D"/>
      </a:accent2>
      <a:accent3>
        <a:srgbClr val="5FD49D"/>
      </a:accent3>
      <a:accent4>
        <a:srgbClr val="FF7A7A"/>
      </a:accent4>
      <a:accent5>
        <a:srgbClr val="596579"/>
      </a:accent5>
      <a:accent6>
        <a:srgbClr val="8FE7EF"/>
      </a:accent6>
      <a:hlink>
        <a:srgbClr val="8FE7EF"/>
      </a:hlink>
      <a:folHlink>
        <a:srgbClr val="F4C9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nowva Charco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2026-06-17T07:13:07.4770000Z</dcterms:created>
  <dcterms:modified xsi:type="dcterms:W3CDTF">2026-06-17T07:13:07.4770000Z</dcterms:modified>
</coreProperties>
</file>